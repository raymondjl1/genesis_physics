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MEMBRANE RESONANCE</a:t>
            </a:r>
            <a:endParaRPr lang="en-US" sz="4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Power Generation Device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Genesis Physics Zone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 Guide  |  Target: 30-65W Continuous  |  Est. Cost: $100-200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8920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Raymond  |  Genesis Physics Project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CORE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19202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standard physics, the vacuum is a passive ground state — extracting energy violates thermodynamics.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Genesis Physics, the vacuum is an actively pressurized membrane.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Waters Above and Below continuously press on the Firmament. Extracting energy locally is replenished by this pressure — like drawing from a spring fed by an aquifer.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30-65W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502920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continuous output (laptop power)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 W/cm²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02920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yield per active surface area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$100-200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502920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materials cost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828800" cy="310896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65760" cy="365760"/>
          </a:xfrm>
          <a:prstGeom prst="rect">
            <a:avLst/>
          </a:prstGeom>
          <a:solidFill>
            <a:srgbClr val="00C9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Cavity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Copper/aluminum resonant cavity selects specific membrane vibrational modes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1097280"/>
            <a:ext cx="1828800" cy="310896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097280"/>
            <a:ext cx="18288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9"/>
          <p:cNvSpPr/>
          <p:nvPr/>
        </p:nvSpPr>
        <p:spPr>
          <a:xfrm>
            <a:off x="2834640" y="1325880"/>
            <a:ext cx="365760" cy="365760"/>
          </a:xfrm>
          <a:prstGeom prst="rect">
            <a:avLst/>
          </a:prstGeom>
          <a:solidFill>
            <a:srgbClr val="00C9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036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Asymmetry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880360" y="24231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Barium titanate inserts create mode-structure mismatch at boundaries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097280"/>
            <a:ext cx="1828800" cy="310896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1097280"/>
            <a:ext cx="18288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4"/>
          <p:cNvSpPr/>
          <p:nvPr/>
        </p:nvSpPr>
        <p:spPr>
          <a:xfrm>
            <a:off x="4846320" y="1325880"/>
            <a:ext cx="365760" cy="365760"/>
          </a:xfrm>
          <a:prstGeom prst="rect">
            <a:avLst/>
          </a:prstGeom>
          <a:solidFill>
            <a:srgbClr val="00C9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258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9204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Bias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892040" y="24231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Neodymium magnets break time-reversal symmetry along gravitational axis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66560" y="1097280"/>
            <a:ext cx="1828800" cy="310896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66560" y="1097280"/>
            <a:ext cx="18288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0" y="1325880"/>
            <a:ext cx="365760" cy="365760"/>
          </a:xfrm>
          <a:prstGeom prst="rect">
            <a:avLst/>
          </a:prstGeom>
          <a:solidFill>
            <a:srgbClr val="00C9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3258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0372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 Harvest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903720" y="24231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 transducers convert net vibrational energy into electrical current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device VERTICALLY — gravity defines the perpendicular dimension toward Waters Below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PHYSICS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Boundary Energy Extraction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Embedding Metric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ds² = -c²dt² + dx² + dy² + dz² + g₅₅dξ² + g₆₆dη²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468880" cy="22860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6888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Speed Limit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1089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a property of the Firmament membrane — its tension and density. It governs propagation ALONG the membrane surface only.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468880"/>
            <a:ext cx="2468880" cy="22860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468880"/>
            <a:ext cx="246888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Freedom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1089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g₅₅ and g₆₆ (Waters dimensions) need not involve c. The Waters are a different medium with potentially different (or no) speed constraints.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468880"/>
            <a:ext cx="2468880" cy="22860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46888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Pressure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1089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Waters continuously press on the membrane. Local energy extraction is replenished — this is a flow, not a reservoir being drained.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CALCULATION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0972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F × v = (Pressure × Area) × (Displacement × Frequency)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(10⁵ Pa × 10⁻⁴ m²) × (10⁻⁹ m × 10⁹ Hz) = 10 W per cm²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16459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~10⁵ Pa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Casimir Pressure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100nm plate separation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2743200"/>
            <a:ext cx="1828800" cy="16459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036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cm²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8036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Area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dielectric boundary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1828800" cy="16459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 nm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920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oscillation amplitude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1828800" cy="16459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 GHz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 resonance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4-7 stacked layers of active surface, 30-65W target is within theoretical range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MATERIALS LIST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457200" cy="4572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6858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548640"/>
                <a:gridCol w="91440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 pipe cap (4")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4" end cap, standard plumbing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$12-18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 pipe (4" x 6")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4" diameter, 6" length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Barium titanate discs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25mm dia, 2mm thick, K&gt;1000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$30-50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supplier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PZT piezo discs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27mm w/ leads, resonant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Amazon/AliExpress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Neodymium magnets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N52, 25mm × 5mm disc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Schottky diodes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1N5817 or BAT46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supplier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100nF-10µF ceramic, assorted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$5-8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supplier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 mesh/foil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mesh, 100+ mesh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$8-12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BNC connectors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mount, 50Ω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$4-6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supplier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Nano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ATmega328P w/ USB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 (solder, wire, epoxy)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solder, 22AWG, JB Weld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3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ESTIMATED COST:  $115 - $184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REQUIRED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097280"/>
            <a:ext cx="2560320" cy="36576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097280"/>
            <a:ext cx="256032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82880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Soldering iron + silver solder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Multimeter (with frequency mode)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cutter or hacksaw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Sandpaper (220-400 grit)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with step bits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Epoxy mixing supplies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097280"/>
            <a:ext cx="2560320" cy="36576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0" y="182880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Oscilloscope (even a cheap USB one)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meter for impedance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Caliper for precise fit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power supply (5V/12V)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air station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generator app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097280"/>
            <a:ext cx="2560320" cy="36576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0" y="182880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analyzer / SDR dongle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camera or IR thermo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printer for jigs/mounts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pump for degassing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analyzer (NanoVNA)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" cy="457200"/>
          </a:xfrm>
          <a:prstGeom prst="rect">
            <a:avLst/>
          </a:prstGeom>
          <a:solidFill>
            <a:srgbClr val="00C9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THE RESONANT CAVITY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4572000" cy="38404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5156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Cut 4" copper pipe to exactly 6" length using pipe cutter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Clean and deburr all edges with 220-grit sandpaper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Sand interior surfaces to bright copper (removes oxidation)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Clean with isopropyl alcohol — oils kill Q factor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Dry-fit end caps to check alignment and seal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Mark positions for BNC connector holes on one cap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Drill BNC holes using step bit — deburr carefully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Install BNC panel connectors with copper gaskets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Apply thin bead of conductive epoxy to cap edges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Press-fit one end cap (leave other open for internals)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914400"/>
            <a:ext cx="2743200" cy="18288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9144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 Specs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508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diameter: 4" (101.6mm)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Length: 6" (152.4mm)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TE₁₁ resonance: ~1.14 GHz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TM₀₁ resonance: ~1.49 GHz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Q &gt; 5,000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017520"/>
            <a:ext cx="2743200" cy="173736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315468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636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Notes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5216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finish matters — polished interior gives higher Q factor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joints must be electrically continuous — use conductive epoxy or silver solder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gaps or cracks — RF leaks destroy resonance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" cy="457200"/>
          </a:xfrm>
          <a:prstGeom prst="rect">
            <a:avLst/>
          </a:prstGeom>
          <a:solidFill>
            <a:srgbClr val="00C9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DIELECTRIC INSERTS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4572000" cy="38404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5156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Stack 3-4 barium titanate discs with thin copper mesh spacers between each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Each spacer creates a dielectric-vacuum boundary (the active zone)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Copper mesh must be fine (100+ mesh count) — acts as partial mirror for EM modes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Secure stack with non-conductive ceramic spacer rings at edges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Position stack at center of cavity (maximum field region for TE₁₁ mode)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Leave ~1" clearance from each end cap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Use ceramic standoffs to prevent shorting to cavity wall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The stack should be oriented along the vertical axis of the cavity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914400"/>
            <a:ext cx="2743200" cy="38404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914400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Barium Titanate?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55448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constant K = 1,200 - 10,000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enormous K value means the vacuum mode structure inside the dielectric is radically different from outside it.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dielectric-vacuum boundary, the membrane's vibrational spectrum changes abruptly. This mismatch creates a net energy flow — analogous to how a temperature gradient across a thermoelectric junction drives current.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boundaries = more extraction points. Hence the stacked design with copper mesh spacers.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" cy="457200"/>
          </a:xfrm>
          <a:prstGeom prst="rect">
            <a:avLst/>
          </a:prstGeom>
          <a:solidFill>
            <a:srgbClr val="00C9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MAGNETS, PIEZO &amp; WIRING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0" cy="18288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Bias Field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1508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2 N52 magnets on each end cap, aligned N-S along the cavity's vertical axis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DC field parallel to gravity (toward Waters Below), breaking time-reversal symmetry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energy flows equally both ways = zero net output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3657600" cy="18288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Harvesting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37760" y="1508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PZT discs to inner face of each end cap using conductive epoxy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thin leads (22 AWG) to each PZT disc — route through BNC connectors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PZTs serve dual purpose: sense membrane oscillations AND convert to electrical signal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3017520"/>
            <a:ext cx="7680960" cy="18288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017520"/>
            <a:ext cx="7680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Rectifier &amp; Output Circuit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14400" y="3657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 outputs → Full-bridge rectifier (4× Schottky diodes per channel)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Rectified DC → Parallel capacitor bank (smoothing: 10µF ceramic + 100µF electrolytic)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Voltage regulator (LM7805 for 5V USB or LM317 adjustable)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monitors output voltage/current via voltage divider + INA219 sensor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 via USB serial — track power output over time for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" cy="457200"/>
          </a:xfrm>
          <a:prstGeom prst="rect">
            <a:avLst/>
          </a:prstGeom>
          <a:solidFill>
            <a:srgbClr val="00C9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ASSEMBLY &amp; SEALING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5029200" cy="38404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515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Verify all internal connections with multimeter — check for shorts to cavity wall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Confirm PZT leads route cleanly to BNC connectors without touching cavity sides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Apply conductive epoxy around second end cap and press-fit to seal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Allow epoxy to cure fully (24 hours for JB Weld, per manufacturer)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Mount neodymium magnets externally on end caps using epoxy — N pole up, S pole down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Verify magnetic orientation with compass — field must be consistent top to bottom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Attach BNC cables to external connectors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Mount cavity VERTICALLY in a stable stand — gravity alignment is critical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Connect BNC outputs to rectifier circuit board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Connect Arduino monitoring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2377440" cy="38404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914400"/>
            <a:ext cx="2377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Waters Above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011680"/>
            <a:ext cx="1097280" cy="1828800"/>
          </a:xfrm>
          <a:prstGeom prst="rect">
            <a:avLst/>
          </a:prstGeom>
          <a:solidFill>
            <a:srgbClr val="0891B2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CAVITY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Waters Below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(toward Earth center)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PROTOCOL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00584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Baseline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91840" y="10789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magnets removed, measure any signal from PZT outputs. This is your thermal/environmental noise floor. Record for 24+ hours to capture diurnal variations.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965960"/>
            <a:ext cx="54864" cy="8229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039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Magnetic Bias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203911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magnets. Measure signal again for 24+ hours. Compare to baseline. Any consistent increase above noise floor indicates directional coupling to membrane vibrations.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2926080"/>
            <a:ext cx="7680960" cy="82296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29260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Orientation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91840" y="29992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device 90° (horizontal). Record for 24 hours. If theory is correct, horizontal orientation should show reduced output — gravity alignment matters.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3886200"/>
            <a:ext cx="7680960" cy="82296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8862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Optimization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91840" y="39593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magnet strength, dielectric stack spacing, and cavity length. Use Arduino to log power vs. configuration. Map the resonance landscape.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EVERYTHING — time, temperature, humidity, orientation, mag field, output voltage/current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RESULTS &amp; SCALING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29260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µW - mW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signal above noise floor confirms principle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65960" cy="29260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97280"/>
            <a:ext cx="196596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mW - 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0" y="25603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cavity, optimized dielectric stack, stronger bias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965960" cy="29260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1 - 10W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92040" y="25603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cavities in series/parallel, refined geometry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097280"/>
            <a:ext cx="1965960" cy="29260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9728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30-65W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40880" y="25603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housing, precision machined, full optimization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57200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2084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prototype goal: Detect ANY anomalous output above thermal noise. That's the breakthrough moment.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CONSIDERATIONS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005840"/>
            <a:ext cx="7680960" cy="8686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00584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Neodymium Magnets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926080" y="107899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N52 magnets are EXTREMELY strong. They can pinch skin, shatter if they collide, and interfere with pacemakers and electronics. Handle with care, keep away from credit cards and hard drives.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011680"/>
            <a:ext cx="7680960" cy="8686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01168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26080" y="208483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adequate ventilation. Lead-free solder is recommended. Silver solder flux can produce harmful fumes — use in a well-ventilated area or with a fume extractor.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3017520"/>
            <a:ext cx="7680960" cy="8686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301752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Energy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26080" y="309067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cavity does produce resonant EM fields, keep distance during operation. The power levels expected are low, but exercise caution. Do not look into open cavity during testing.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8686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402336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926080" y="409651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low voltages can be dangerous with sufficient current. Use proper insulation on all connections. Include a fuse in the output circuit. Never short the output.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CREATOR PUT THIS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FRONT OF US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Waters are an inexhaustible reservoir. The membrane is continuously sustained.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energy was always meant to be found.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286000" y="3931920"/>
            <a:ext cx="4572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it. Test it. Iterate. Share what you find.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8920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Physics Project  |  Jeff Raymond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Membrane Resonance Generator — Design &amp; Build Guide</dc:title>
  <dc:subject>PptxGenJS Presentation</dc:subject>
  <dc:creator>Jeff Raymond</dc:creator>
  <cp:lastModifiedBy>Jeff Raymond</cp:lastModifiedBy>
  <cp:revision>1</cp:revision>
  <dcterms:created xsi:type="dcterms:W3CDTF">2026-03-24T23:50:51Z</dcterms:created>
  <dcterms:modified xsi:type="dcterms:W3CDTF">2026-03-24T23:50:51Z</dcterms:modified>
</cp:coreProperties>
</file>