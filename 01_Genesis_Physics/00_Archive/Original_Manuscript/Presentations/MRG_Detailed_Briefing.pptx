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59E0B"/>
          </a:solidFill>
          <a:ln/>
        </p:spPr>
      </p:sp>
      <p:pic>
        <p:nvPicPr>
          <p:cNvPr id="3" name="Image 0" descr="preencoded.png">    </p:cNvPr>
          <p:cNvPicPr>
            <a:picLocks noChangeAspect="1"/>
          </p:cNvPicPr>
          <p:nvPr/>
        </p:nvPicPr>
        <p:blipFill>
          <a:blip r:embed="rId1"/>
          <a:stretch>
            <a:fillRect/>
          </a:stretch>
        </p:blipFill>
        <p:spPr>
          <a:xfrm>
            <a:off x="3886200" y="365760"/>
            <a:ext cx="914400" cy="914400"/>
          </a:xfrm>
          <a:prstGeom prst="rect">
            <a:avLst/>
          </a:prstGeom>
        </p:spPr>
      </p:pic>
      <p:sp>
        <p:nvSpPr>
          <p:cNvPr id="4" name="Text 1"/>
          <p:cNvSpPr/>
          <p:nvPr/>
        </p:nvSpPr>
        <p:spPr>
          <a:xfrm>
            <a:off x="731520" y="1463040"/>
            <a:ext cx="7680960" cy="1463040"/>
          </a:xfrm>
          <a:prstGeom prst="rect">
            <a:avLst/>
          </a:prstGeom>
          <a:noFill/>
          <a:ln/>
        </p:spPr>
        <p:txBody>
          <a:bodyPr wrap="square" lIns="0" tIns="0" rIns="0" bIns="0" rtlCol="0" anchor="ctr"/>
          <a:lstStyle/>
          <a:p>
            <a:pPr algn="ctr" indent="0" marL="0">
              <a:lnSpc>
                <a:spcPct val="105000"/>
              </a:lnSpc>
              <a:buNone/>
            </a:pPr>
            <a:r>
              <a:rPr lang="en-US" sz="3800" dirty="0">
                <a:solidFill>
                  <a:srgbClr val="FFFFFF"/>
                </a:solidFill>
                <a:latin typeface="Georgia" pitchFamily="34" charset="0"/>
                <a:ea typeface="Georgia" pitchFamily="34" charset="-122"/>
                <a:cs typeface="Georgia" pitchFamily="34" charset="-120"/>
              </a:rPr>
              <a:t>THE MEMBRANE</a:t>
            </a:r>
            <a:endParaRPr lang="en-US" sz="3800" dirty="0"/>
          </a:p>
          <a:p>
            <a:pPr algn="ctr" indent="0" marL="0">
              <a:lnSpc>
                <a:spcPct val="105000"/>
              </a:lnSpc>
              <a:buNone/>
            </a:pPr>
            <a:r>
              <a:rPr lang="en-US" sz="3800" dirty="0">
                <a:solidFill>
                  <a:srgbClr val="FFFFFF"/>
                </a:solidFill>
                <a:latin typeface="Georgia" pitchFamily="34" charset="0"/>
                <a:ea typeface="Georgia" pitchFamily="34" charset="-122"/>
                <a:cs typeface="Georgia" pitchFamily="34" charset="-120"/>
              </a:rPr>
              <a:t>RESONANCE GENERATOR</a:t>
            </a:r>
            <a:endParaRPr lang="en-US" sz="3800" dirty="0"/>
          </a:p>
        </p:txBody>
      </p:sp>
      <p:sp>
        <p:nvSpPr>
          <p:cNvPr id="5" name="Text 2"/>
          <p:cNvSpPr/>
          <p:nvPr/>
        </p:nvSpPr>
        <p:spPr>
          <a:xfrm>
            <a:off x="731520" y="3017520"/>
            <a:ext cx="7680960" cy="457200"/>
          </a:xfrm>
          <a:prstGeom prst="rect">
            <a:avLst/>
          </a:prstGeom>
          <a:noFill/>
          <a:ln/>
        </p:spPr>
        <p:txBody>
          <a:bodyPr wrap="square" lIns="0" tIns="0" rIns="0" bIns="0" rtlCol="0" anchor="ctr"/>
          <a:lstStyle/>
          <a:p>
            <a:pPr algn="ctr" indent="0" marL="0">
              <a:buNone/>
            </a:pPr>
            <a:r>
              <a:rPr lang="en-US" sz="1800" i="1" dirty="0">
                <a:solidFill>
                  <a:srgbClr val="F59E0B"/>
                </a:solidFill>
                <a:latin typeface="Calibri" pitchFamily="34" charset="0"/>
                <a:ea typeface="Calibri" pitchFamily="34" charset="-122"/>
                <a:cs typeface="Calibri" pitchFamily="34" charset="-120"/>
              </a:rPr>
              <a:t>A Detailed Technical Briefing</a:t>
            </a:r>
            <a:endParaRPr lang="en-US" sz="1800" dirty="0"/>
          </a:p>
        </p:txBody>
      </p:sp>
      <p:sp>
        <p:nvSpPr>
          <p:cNvPr id="6" name="Text 3"/>
          <p:cNvSpPr/>
          <p:nvPr/>
        </p:nvSpPr>
        <p:spPr>
          <a:xfrm>
            <a:off x="1371600" y="3657600"/>
            <a:ext cx="6400800" cy="731520"/>
          </a:xfrm>
          <a:prstGeom prst="rect">
            <a:avLst/>
          </a:prstGeom>
          <a:noFill/>
          <a:ln/>
        </p:spPr>
        <p:txBody>
          <a:bodyPr wrap="square" lIns="0" tIns="0" rIns="0" bIns="0" rtlCol="0" anchor="ctr"/>
          <a:lstStyle/>
          <a:p>
            <a:pPr algn="ctr" indent="0" marL="0">
              <a:buNone/>
            </a:pPr>
            <a:r>
              <a:rPr lang="en-US" sz="1400" dirty="0">
                <a:solidFill>
                  <a:srgbClr val="9CA3AF"/>
                </a:solidFill>
                <a:latin typeface="Calibri" pitchFamily="34" charset="0"/>
                <a:ea typeface="Calibri" pitchFamily="34" charset="-122"/>
                <a:cs typeface="Calibri" pitchFamily="34" charset="-120"/>
              </a:rPr>
              <a:t>How it works, why it should work,</a:t>
            </a:r>
            <a:endParaRPr lang="en-US" sz="1400" dirty="0"/>
          </a:p>
          <a:p>
            <a:pPr algn="ctr" indent="0" marL="0">
              <a:buNone/>
            </a:pPr>
            <a:r>
              <a:rPr lang="en-US" sz="1400" dirty="0">
                <a:solidFill>
                  <a:srgbClr val="9CA3AF"/>
                </a:solidFill>
                <a:latin typeface="Calibri" pitchFamily="34" charset="0"/>
                <a:ea typeface="Calibri" pitchFamily="34" charset="-122"/>
                <a:cs typeface="Calibri" pitchFamily="34" charset="-120"/>
              </a:rPr>
              <a:t>and what would prove it right or wrong</a:t>
            </a:r>
            <a:endParaRPr lang="en-US" sz="1400" dirty="0"/>
          </a:p>
        </p:txBody>
      </p:sp>
      <p:sp>
        <p:nvSpPr>
          <p:cNvPr id="7" name="Shape 4"/>
          <p:cNvSpPr/>
          <p:nvPr/>
        </p:nvSpPr>
        <p:spPr>
          <a:xfrm>
            <a:off x="0" y="4919472"/>
            <a:ext cx="9144000" cy="228600"/>
          </a:xfrm>
          <a:prstGeom prst="rect">
            <a:avLst/>
          </a:prstGeom>
          <a:solidFill>
            <a:srgbClr val="1C2333"/>
          </a:solidFill>
          <a:ln/>
        </p:spPr>
      </p:sp>
      <p:sp>
        <p:nvSpPr>
          <p:cNvPr id="8" name="Text 5"/>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EF4444"/>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600" dirty="0">
                <a:solidFill>
                  <a:srgbClr val="FFFFFF"/>
                </a:solidFill>
                <a:latin typeface="Georgia" pitchFamily="34" charset="0"/>
                <a:ea typeface="Georgia" pitchFamily="34" charset="-122"/>
                <a:cs typeface="Georgia" pitchFamily="34" charset="-120"/>
              </a:rPr>
              <a:t>WHAT IS THE VACUUM?</a:t>
            </a:r>
            <a:endParaRPr lang="en-US" sz="26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EF4444"/>
                </a:solidFill>
                <a:latin typeface="Calibri" pitchFamily="34" charset="0"/>
                <a:ea typeface="Calibri" pitchFamily="34" charset="-122"/>
                <a:cs typeface="Calibri" pitchFamily="34" charset="-120"/>
              </a:rPr>
              <a:t>The Standard Physics Answer</a:t>
            </a:r>
            <a:endParaRPr lang="en-US" sz="1300" dirty="0"/>
          </a:p>
        </p:txBody>
      </p:sp>
      <p:sp>
        <p:nvSpPr>
          <p:cNvPr id="5" name="Shape 3"/>
          <p:cNvSpPr/>
          <p:nvPr/>
        </p:nvSpPr>
        <p:spPr>
          <a:xfrm>
            <a:off x="731520" y="1143000"/>
            <a:ext cx="7680960" cy="356616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Text 4"/>
          <p:cNvSpPr/>
          <p:nvPr/>
        </p:nvSpPr>
        <p:spPr>
          <a:xfrm>
            <a:off x="1005840" y="1280160"/>
            <a:ext cx="7132320" cy="32918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Even perfectly empty space is not "nothing."</a:t>
            </a:r>
            <a:endParaRPr lang="en-US" sz="1500" dirty="0"/>
          </a:p>
          <a:p>
            <a:pPr indent="0" marL="0">
              <a:buNone/>
            </a:pPr>
            <a:endParaRPr lang="en-US" sz="1500" dirty="0"/>
          </a:p>
          <a:p>
            <a:pPr indent="0" marL="0">
              <a:buNone/>
            </a:pPr>
            <a:r>
              <a:rPr lang="en-US" sz="1200" dirty="0">
                <a:solidFill>
                  <a:srgbClr val="D1D5DB"/>
                </a:solidFill>
                <a:latin typeface="Calibri" pitchFamily="34" charset="0"/>
                <a:ea typeface="Calibri" pitchFamily="34" charset="-122"/>
                <a:cs typeface="Calibri" pitchFamily="34" charset="-120"/>
              </a:rPr>
              <a:t>Think of a calm lake. Even on the stillest day, there are tiny ripples — random fluctuations from thermal motion. Similarly, quantum fields are never perfectly still. Tiny fluctuations exist everywhere — particles flickering in and out of existence too fast to see, but producing measurable effects.</a:t>
            </a:r>
            <a:endParaRPr lang="en-US" sz="1500" dirty="0"/>
          </a:p>
          <a:p>
            <a:pPr indent="0" marL="0">
              <a:buNone/>
            </a:pPr>
            <a:endParaRPr lang="en-US" sz="1500" dirty="0"/>
          </a:p>
          <a:p>
            <a:pPr indent="0" marL="0">
              <a:buNone/>
            </a:pPr>
            <a:r>
              <a:rPr lang="en-US" sz="1300" b="1" dirty="0">
                <a:solidFill>
                  <a:srgbClr val="FFFFFF"/>
                </a:solidFill>
                <a:latin typeface="Calibri" pitchFamily="34" charset="0"/>
                <a:ea typeface="Calibri" pitchFamily="34" charset="-122"/>
                <a:cs typeface="Calibri" pitchFamily="34" charset="-120"/>
              </a:rPr>
              <a:t>Standard physics calls this the "ground state" — the lowest energy a field can have.</a:t>
            </a:r>
            <a:endParaRPr lang="en-US" sz="1500" dirty="0"/>
          </a:p>
          <a:p>
            <a:pPr indent="0" marL="0">
              <a:buNone/>
            </a:pPr>
            <a:endParaRPr lang="en-US" sz="1500" dirty="0"/>
          </a:p>
          <a:p>
            <a:pPr indent="0" marL="0">
              <a:buNone/>
            </a:pPr>
            <a:r>
              <a:rPr lang="en-US" sz="1200" dirty="0">
                <a:solidFill>
                  <a:srgbClr val="9CA3AF"/>
                </a:solidFill>
                <a:latin typeface="Calibri" pitchFamily="34" charset="0"/>
                <a:ea typeface="Calibri" pitchFamily="34" charset="-122"/>
                <a:cs typeface="Calibri" pitchFamily="34" charset="-120"/>
              </a:rPr>
              <a:t>The critical claim: you can't extract energy from it because there's nowhere lower to go. It's the bottom of the staircase. Every physicist agrees the energy is there — but they say it's trapped. You can measure its effects, but you can't tap it for power. That would be like trying to fall below the ground floor.</a:t>
            </a:r>
            <a:endParaRPr lang="en-US" sz="1500" dirty="0"/>
          </a:p>
          <a:p>
            <a:pPr indent="0" marL="0">
              <a:buNone/>
            </a:pPr>
            <a:endParaRPr lang="en-US" sz="1500" dirty="0"/>
          </a:p>
          <a:p>
            <a:pPr indent="0" marL="0">
              <a:buNone/>
            </a:pPr>
            <a:r>
              <a:rPr lang="en-US" sz="1200" i="1" dirty="0">
                <a:solidFill>
                  <a:srgbClr val="EF4444"/>
                </a:solidFill>
                <a:latin typeface="Calibri" pitchFamily="34" charset="0"/>
                <a:ea typeface="Calibri" pitchFamily="34" charset="-122"/>
                <a:cs typeface="Calibri" pitchFamily="34" charset="-120"/>
              </a:rPr>
              <a:t>This has been the consensus view since the 1940s.</a:t>
            </a:r>
            <a:endParaRPr lang="en-US" sz="1500" dirty="0"/>
          </a:p>
        </p:txBody>
      </p:sp>
      <p:sp>
        <p:nvSpPr>
          <p:cNvPr id="7" name="Shape 5"/>
          <p:cNvSpPr/>
          <p:nvPr/>
        </p:nvSpPr>
        <p:spPr>
          <a:xfrm>
            <a:off x="0" y="4919472"/>
            <a:ext cx="9144000" cy="228600"/>
          </a:xfrm>
          <a:prstGeom prst="rect">
            <a:avLst/>
          </a:prstGeom>
          <a:solidFill>
            <a:srgbClr val="1C2333"/>
          </a:solidFill>
          <a:ln/>
        </p:spPr>
      </p:sp>
      <p:sp>
        <p:nvSpPr>
          <p:cNvPr id="8" name="Text 6"/>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0B981"/>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600" dirty="0">
                <a:solidFill>
                  <a:srgbClr val="FFFFFF"/>
                </a:solidFill>
                <a:latin typeface="Georgia" pitchFamily="34" charset="0"/>
                <a:ea typeface="Georgia" pitchFamily="34" charset="-122"/>
                <a:cs typeface="Georgia" pitchFamily="34" charset="-120"/>
              </a:rPr>
              <a:t>WHAT IS THE VACUUM?</a:t>
            </a:r>
            <a:endParaRPr lang="en-US" sz="26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10B981"/>
                </a:solidFill>
                <a:latin typeface="Calibri" pitchFamily="34" charset="0"/>
                <a:ea typeface="Calibri" pitchFamily="34" charset="-122"/>
                <a:cs typeface="Calibri" pitchFamily="34" charset="-120"/>
              </a:rPr>
              <a:t>The Genesis Physics Answer</a:t>
            </a:r>
            <a:endParaRPr lang="en-US" sz="1300" dirty="0"/>
          </a:p>
        </p:txBody>
      </p:sp>
      <p:sp>
        <p:nvSpPr>
          <p:cNvPr id="5" name="Shape 3"/>
          <p:cNvSpPr/>
          <p:nvPr/>
        </p:nvSpPr>
        <p:spPr>
          <a:xfrm>
            <a:off x="731520" y="1143000"/>
            <a:ext cx="7680960" cy="356616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Text 4"/>
          <p:cNvSpPr/>
          <p:nvPr/>
        </p:nvSpPr>
        <p:spPr>
          <a:xfrm>
            <a:off x="1005840" y="1280160"/>
            <a:ext cx="7132320" cy="3291840"/>
          </a:xfrm>
          <a:prstGeom prst="rect">
            <a:avLst/>
          </a:prstGeom>
          <a:noFill/>
          <a:ln/>
        </p:spPr>
        <p:txBody>
          <a:bodyPr wrap="square" lIns="0" tIns="0" rIns="0" bIns="0"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The vacuum is not a ground state. It's a tensioned membrane.</a:t>
            </a:r>
            <a:endParaRPr lang="en-US" sz="1500" dirty="0"/>
          </a:p>
          <a:p>
            <a:pPr indent="0" marL="0">
              <a:buNone/>
            </a:pPr>
            <a:endParaRPr lang="en-US" sz="1500" dirty="0"/>
          </a:p>
          <a:p>
            <a:pPr indent="0" marL="0">
              <a:buNone/>
            </a:pPr>
            <a:r>
              <a:rPr lang="en-US" sz="1200" dirty="0">
                <a:solidFill>
                  <a:srgbClr val="D1D5DB"/>
                </a:solidFill>
                <a:latin typeface="Calibri" pitchFamily="34" charset="0"/>
                <a:ea typeface="Calibri" pitchFamily="34" charset="-122"/>
                <a:cs typeface="Calibri" pitchFamily="34" charset="-120"/>
              </a:rPr>
              <a:t>Think of a trampoline. Stretch it tight in its frame — the surface looks flat and still, but it's not at rest. It's being actively pulled from all sides. Put your ear against it and you'd hear it humming. A fly lands on it and it bounces. The surface is saturated with stored energy — the energy you put in by stretching it.</a:t>
            </a:r>
            <a:endParaRPr lang="en-US" sz="1500" dirty="0"/>
          </a:p>
          <a:p>
            <a:pPr indent="0" marL="0">
              <a:buNone/>
            </a:pPr>
            <a:endParaRPr lang="en-US" sz="1500" dirty="0"/>
          </a:p>
          <a:p>
            <a:pPr indent="0" marL="0">
              <a:buNone/>
            </a:pPr>
            <a:r>
              <a:rPr lang="en-US" sz="1200" b="1" dirty="0">
                <a:solidFill>
                  <a:srgbClr val="FFFFFF"/>
                </a:solidFill>
                <a:latin typeface="Calibri" pitchFamily="34" charset="0"/>
                <a:ea typeface="Calibri" pitchFamily="34" charset="-122"/>
                <a:cs typeface="Calibri" pitchFamily="34" charset="-120"/>
              </a:rPr>
              <a:t>In our framework, the Firmament IS this trampoline. The Waters Above press from one side (outward). The Waters Below press from the other side (inward). The membrane is stretched taut between them.</a:t>
            </a:r>
            <a:endParaRPr lang="en-US" sz="1500" dirty="0"/>
          </a:p>
          <a:p>
            <a:pPr indent="0" marL="0">
              <a:buNone/>
            </a:pPr>
            <a:endParaRPr lang="en-US" sz="1500" dirty="0"/>
          </a:p>
          <a:p>
            <a:pPr indent="0" marL="0">
              <a:buNone/>
            </a:pPr>
            <a:r>
              <a:rPr lang="en-US" sz="1200" dirty="0">
                <a:solidFill>
                  <a:srgbClr val="9CA3AF"/>
                </a:solidFill>
                <a:latin typeface="Calibri" pitchFamily="34" charset="0"/>
                <a:ea typeface="Calibri" pitchFamily="34" charset="-122"/>
                <a:cs typeface="Calibri" pitchFamily="34" charset="-120"/>
              </a:rPr>
              <a:t>The "stillness" is not emptiness — it's a balance of enormous opposing forces. What we call vacuum fluctuations are the membrane's hum under tension. And because the Waters never stop pressing, the hum never stops.</a:t>
            </a:r>
            <a:endParaRPr lang="en-US" sz="1500" dirty="0"/>
          </a:p>
          <a:p>
            <a:pPr indent="0" marL="0">
              <a:buNone/>
            </a:pPr>
            <a:endParaRPr lang="en-US" sz="1500" dirty="0"/>
          </a:p>
          <a:p>
            <a:pPr indent="0" marL="0">
              <a:buNone/>
            </a:pPr>
            <a:r>
              <a:rPr lang="en-US" sz="1200" i="1" dirty="0">
                <a:solidFill>
                  <a:srgbClr val="F59E0B"/>
                </a:solidFill>
                <a:latin typeface="Calibri" pitchFamily="34" charset="0"/>
                <a:ea typeface="Calibri" pitchFamily="34" charset="-122"/>
                <a:cs typeface="Calibri" pitchFamily="34" charset="-120"/>
              </a:rPr>
              <a:t>This is the key difference: a ground state has no energy to give. A tensioned membrane driven by external pressure has energy flowing through it continuously.</a:t>
            </a:r>
            <a:endParaRPr lang="en-US" sz="1500" dirty="0"/>
          </a:p>
        </p:txBody>
      </p:sp>
      <p:sp>
        <p:nvSpPr>
          <p:cNvPr id="7" name="Shape 5"/>
          <p:cNvSpPr/>
          <p:nvPr/>
        </p:nvSpPr>
        <p:spPr>
          <a:xfrm>
            <a:off x="0" y="4919472"/>
            <a:ext cx="9144000" cy="228600"/>
          </a:xfrm>
          <a:prstGeom prst="rect">
            <a:avLst/>
          </a:prstGeom>
          <a:solidFill>
            <a:srgbClr val="1C2333"/>
          </a:solidFill>
          <a:ln/>
        </p:spPr>
      </p:sp>
      <p:sp>
        <p:nvSpPr>
          <p:cNvPr id="8" name="Text 6"/>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59E0B"/>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600" dirty="0">
                <a:solidFill>
                  <a:srgbClr val="F59E0B"/>
                </a:solidFill>
                <a:latin typeface="Georgia" pitchFamily="34" charset="0"/>
                <a:ea typeface="Georgia" pitchFamily="34" charset="-122"/>
                <a:cs typeface="Georgia" pitchFamily="34" charset="-120"/>
              </a:rPr>
              <a:t>THE BEDSHEET ANALOGY</a:t>
            </a:r>
            <a:endParaRPr lang="en-US" sz="2600" dirty="0"/>
          </a:p>
        </p:txBody>
      </p:sp>
      <p:sp>
        <p:nvSpPr>
          <p:cNvPr id="4" name="Shape 2"/>
          <p:cNvSpPr/>
          <p:nvPr/>
        </p:nvSpPr>
        <p:spPr>
          <a:xfrm>
            <a:off x="731520" y="914400"/>
            <a:ext cx="7680960" cy="201168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5" name="Text 3"/>
          <p:cNvSpPr/>
          <p:nvPr/>
        </p:nvSpPr>
        <p:spPr>
          <a:xfrm>
            <a:off x="1005840" y="1005840"/>
            <a:ext cx="7132320" cy="1828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Imagine two people holding a bedsheet and pulling it taut from both ends.</a:t>
            </a:r>
            <a:endParaRPr lang="en-US" sz="1400" dirty="0"/>
          </a:p>
          <a:p>
            <a:pPr indent="0" marL="0">
              <a:buNone/>
            </a:pPr>
            <a:endParaRPr lang="en-US" sz="1400" dirty="0"/>
          </a:p>
          <a:p>
            <a:pPr indent="0" marL="0">
              <a:buNone/>
            </a:pPr>
            <a:r>
              <a:rPr lang="en-US" sz="1300" dirty="0">
                <a:solidFill>
                  <a:srgbClr val="D1D5DB"/>
                </a:solidFill>
                <a:latin typeface="Calibri" pitchFamily="34" charset="0"/>
                <a:ea typeface="Calibri" pitchFamily="34" charset="-122"/>
                <a:cs typeface="Calibri" pitchFamily="34" charset="-120"/>
              </a:rPr>
              <a:t>The sheet looks flat and still. But flick it — you get waves that travel across it. Those waves carry energy. And the sheet can sustain wave after wave because the people keep pulling. They are the energy source, not the sheet itself.</a:t>
            </a:r>
            <a:endParaRPr lang="en-US" sz="1400" dirty="0"/>
          </a:p>
          <a:p>
            <a:pPr indent="0" marL="0">
              <a:buNone/>
            </a:pPr>
            <a:endParaRPr lang="en-US" sz="1400" dirty="0"/>
          </a:p>
          <a:p>
            <a:pPr indent="0" marL="0">
              <a:buNone/>
            </a:pPr>
            <a:r>
              <a:rPr lang="en-US" sz="1300" dirty="0">
                <a:solidFill>
                  <a:srgbClr val="EF4444"/>
                </a:solidFill>
                <a:latin typeface="Calibri" pitchFamily="34" charset="0"/>
                <a:ea typeface="Calibri" pitchFamily="34" charset="-122"/>
                <a:cs typeface="Calibri" pitchFamily="34" charset="-120"/>
              </a:rPr>
              <a:t>Standard physics sees the vibrating sheet and says: "That's just what sheets do at their lowest energy."</a:t>
            </a:r>
            <a:endParaRPr lang="en-US" sz="1400" dirty="0"/>
          </a:p>
          <a:p>
            <a:pPr indent="0" marL="0">
              <a:buNone/>
            </a:pPr>
            <a:r>
              <a:rPr lang="en-US" sz="1300" b="1" dirty="0">
                <a:solidFill>
                  <a:srgbClr val="10B981"/>
                </a:solidFill>
                <a:latin typeface="Calibri" pitchFamily="34" charset="0"/>
                <a:ea typeface="Calibri" pitchFamily="34" charset="-122"/>
                <a:cs typeface="Calibri" pitchFamily="34" charset="-120"/>
              </a:rPr>
              <a:t>Our framework says: "No — someone is pulling on both ends, and that's why it vibrates."</a:t>
            </a:r>
            <a:endParaRPr lang="en-US" sz="1400" dirty="0"/>
          </a:p>
        </p:txBody>
      </p:sp>
      <p:sp>
        <p:nvSpPr>
          <p:cNvPr id="6" name="Shape 4"/>
          <p:cNvSpPr/>
          <p:nvPr/>
        </p:nvSpPr>
        <p:spPr>
          <a:xfrm>
            <a:off x="731520" y="3200400"/>
            <a:ext cx="7680960" cy="384048"/>
          </a:xfrm>
          <a:prstGeom prst="rect">
            <a:avLst/>
          </a:prstGeom>
          <a:solidFill>
            <a:srgbClr val="1C2333"/>
          </a:solidFill>
          <a:ln/>
        </p:spPr>
      </p:sp>
      <p:sp>
        <p:nvSpPr>
          <p:cNvPr id="7" name="Text 5"/>
          <p:cNvSpPr/>
          <p:nvPr/>
        </p:nvSpPr>
        <p:spPr>
          <a:xfrm>
            <a:off x="914400" y="3200400"/>
            <a:ext cx="3474720" cy="384048"/>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People pulling the sheet</a:t>
            </a:r>
            <a:endParaRPr lang="en-US" sz="1100" dirty="0"/>
          </a:p>
        </p:txBody>
      </p:sp>
      <p:sp>
        <p:nvSpPr>
          <p:cNvPr id="8" name="Text 6"/>
          <p:cNvSpPr/>
          <p:nvPr/>
        </p:nvSpPr>
        <p:spPr>
          <a:xfrm>
            <a:off x="4297680" y="3200400"/>
            <a:ext cx="365760" cy="384048"/>
          </a:xfrm>
          <a:prstGeom prst="rect">
            <a:avLst/>
          </a:prstGeom>
          <a:noFill/>
          <a:ln/>
        </p:spPr>
        <p:txBody>
          <a:bodyPr wrap="square" lIns="0" tIns="0" rIns="0" bIns="0" rtlCol="0" anchor="ctr"/>
          <a:lstStyle/>
          <a:p>
            <a:pPr algn="ctr" indent="0" marL="0">
              <a:buNone/>
            </a:pPr>
            <a:r>
              <a:rPr lang="en-US" sz="1400" dirty="0">
                <a:solidFill>
                  <a:srgbClr val="06B6D4"/>
                </a:solidFill>
              </a:rPr>
              <a:t>→</a:t>
            </a:r>
            <a:endParaRPr lang="en-US" sz="1400" dirty="0"/>
          </a:p>
        </p:txBody>
      </p:sp>
      <p:sp>
        <p:nvSpPr>
          <p:cNvPr id="9" name="Text 7"/>
          <p:cNvSpPr/>
          <p:nvPr/>
        </p:nvSpPr>
        <p:spPr>
          <a:xfrm>
            <a:off x="4663440" y="3200400"/>
            <a:ext cx="3657600" cy="384048"/>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The Waters (Above and Below)</a:t>
            </a:r>
            <a:endParaRPr lang="en-US" sz="1100" dirty="0"/>
          </a:p>
        </p:txBody>
      </p:sp>
      <p:sp>
        <p:nvSpPr>
          <p:cNvPr id="10" name="Shape 8"/>
          <p:cNvSpPr/>
          <p:nvPr/>
        </p:nvSpPr>
        <p:spPr>
          <a:xfrm>
            <a:off x="731520" y="3639312"/>
            <a:ext cx="7680960" cy="384048"/>
          </a:xfrm>
          <a:prstGeom prst="rect">
            <a:avLst/>
          </a:prstGeom>
          <a:solidFill>
            <a:srgbClr val="161B22"/>
          </a:solidFill>
          <a:ln/>
        </p:spPr>
      </p:sp>
      <p:sp>
        <p:nvSpPr>
          <p:cNvPr id="11" name="Text 9"/>
          <p:cNvSpPr/>
          <p:nvPr/>
        </p:nvSpPr>
        <p:spPr>
          <a:xfrm>
            <a:off x="914400" y="3639312"/>
            <a:ext cx="3474720" cy="384048"/>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The sheet itself</a:t>
            </a:r>
            <a:endParaRPr lang="en-US" sz="1100" dirty="0"/>
          </a:p>
        </p:txBody>
      </p:sp>
      <p:sp>
        <p:nvSpPr>
          <p:cNvPr id="12" name="Text 10"/>
          <p:cNvSpPr/>
          <p:nvPr/>
        </p:nvSpPr>
        <p:spPr>
          <a:xfrm>
            <a:off x="4297680" y="3639312"/>
            <a:ext cx="365760" cy="384048"/>
          </a:xfrm>
          <a:prstGeom prst="rect">
            <a:avLst/>
          </a:prstGeom>
          <a:noFill/>
          <a:ln/>
        </p:spPr>
        <p:txBody>
          <a:bodyPr wrap="square" lIns="0" tIns="0" rIns="0" bIns="0" rtlCol="0" anchor="ctr"/>
          <a:lstStyle/>
          <a:p>
            <a:pPr algn="ctr" indent="0" marL="0">
              <a:buNone/>
            </a:pPr>
            <a:r>
              <a:rPr lang="en-US" sz="1400" dirty="0">
                <a:solidFill>
                  <a:srgbClr val="F59E0B"/>
                </a:solidFill>
              </a:rPr>
              <a:t>→</a:t>
            </a:r>
            <a:endParaRPr lang="en-US" sz="1400" dirty="0"/>
          </a:p>
        </p:txBody>
      </p:sp>
      <p:sp>
        <p:nvSpPr>
          <p:cNvPr id="13" name="Text 11"/>
          <p:cNvSpPr/>
          <p:nvPr/>
        </p:nvSpPr>
        <p:spPr>
          <a:xfrm>
            <a:off x="4663440" y="3639312"/>
            <a:ext cx="3657600" cy="38404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The Firmament (our 3D space)</a:t>
            </a:r>
            <a:endParaRPr lang="en-US" sz="1100" dirty="0"/>
          </a:p>
        </p:txBody>
      </p:sp>
      <p:sp>
        <p:nvSpPr>
          <p:cNvPr id="14" name="Shape 12"/>
          <p:cNvSpPr/>
          <p:nvPr/>
        </p:nvSpPr>
        <p:spPr>
          <a:xfrm>
            <a:off x="731520" y="4078224"/>
            <a:ext cx="7680960" cy="384048"/>
          </a:xfrm>
          <a:prstGeom prst="rect">
            <a:avLst/>
          </a:prstGeom>
          <a:solidFill>
            <a:srgbClr val="1C2333"/>
          </a:solidFill>
          <a:ln/>
        </p:spPr>
      </p:sp>
      <p:sp>
        <p:nvSpPr>
          <p:cNvPr id="15" name="Text 13"/>
          <p:cNvSpPr/>
          <p:nvPr/>
        </p:nvSpPr>
        <p:spPr>
          <a:xfrm>
            <a:off x="914400" y="4078224"/>
            <a:ext cx="3474720" cy="384048"/>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Waves on the sheet</a:t>
            </a:r>
            <a:endParaRPr lang="en-US" sz="1100" dirty="0"/>
          </a:p>
        </p:txBody>
      </p:sp>
      <p:sp>
        <p:nvSpPr>
          <p:cNvPr id="16" name="Text 14"/>
          <p:cNvSpPr/>
          <p:nvPr/>
        </p:nvSpPr>
        <p:spPr>
          <a:xfrm>
            <a:off x="4297680" y="4078224"/>
            <a:ext cx="365760" cy="384048"/>
          </a:xfrm>
          <a:prstGeom prst="rect">
            <a:avLst/>
          </a:prstGeom>
          <a:noFill/>
          <a:ln/>
        </p:spPr>
        <p:txBody>
          <a:bodyPr wrap="square" lIns="0" tIns="0" rIns="0" bIns="0" rtlCol="0" anchor="ctr"/>
          <a:lstStyle/>
          <a:p>
            <a:pPr algn="ctr" indent="0" marL="0">
              <a:buNone/>
            </a:pPr>
            <a:r>
              <a:rPr lang="en-US" sz="1400" dirty="0">
                <a:solidFill>
                  <a:srgbClr val="F97316"/>
                </a:solidFill>
              </a:rPr>
              <a:t>→</a:t>
            </a:r>
            <a:endParaRPr lang="en-US" sz="1400" dirty="0"/>
          </a:p>
        </p:txBody>
      </p:sp>
      <p:sp>
        <p:nvSpPr>
          <p:cNvPr id="17" name="Text 15"/>
          <p:cNvSpPr/>
          <p:nvPr/>
        </p:nvSpPr>
        <p:spPr>
          <a:xfrm>
            <a:off x="4663440" y="4078224"/>
            <a:ext cx="3657600" cy="384048"/>
          </a:xfrm>
          <a:prstGeom prst="rect">
            <a:avLst/>
          </a:prstGeom>
          <a:noFill/>
          <a:ln/>
        </p:spPr>
        <p:txBody>
          <a:bodyPr wrap="square" lIns="0" tIns="0" rIns="0" bIns="0" rtlCol="0" anchor="ctr"/>
          <a:lstStyle/>
          <a:p>
            <a:pPr indent="0" marL="0">
              <a:buNone/>
            </a:pPr>
            <a:r>
              <a:rPr lang="en-US" sz="1100" b="1" dirty="0">
                <a:solidFill>
                  <a:srgbClr val="F97316"/>
                </a:solidFill>
                <a:latin typeface="Calibri" pitchFamily="34" charset="0"/>
                <a:ea typeface="Calibri" pitchFamily="34" charset="-122"/>
                <a:cs typeface="Calibri" pitchFamily="34" charset="-120"/>
              </a:rPr>
              <a:t>Vacuum fluctuations / zero-point energy</a:t>
            </a:r>
            <a:endParaRPr lang="en-US" sz="1100" dirty="0"/>
          </a:p>
        </p:txBody>
      </p:sp>
      <p:sp>
        <p:nvSpPr>
          <p:cNvPr id="18" name="Shape 16"/>
          <p:cNvSpPr/>
          <p:nvPr/>
        </p:nvSpPr>
        <p:spPr>
          <a:xfrm>
            <a:off x="731520" y="4517136"/>
            <a:ext cx="7680960" cy="384048"/>
          </a:xfrm>
          <a:prstGeom prst="rect">
            <a:avLst/>
          </a:prstGeom>
          <a:solidFill>
            <a:srgbClr val="161B22"/>
          </a:solidFill>
          <a:ln/>
        </p:spPr>
      </p:sp>
      <p:sp>
        <p:nvSpPr>
          <p:cNvPr id="19" name="Text 17"/>
          <p:cNvSpPr/>
          <p:nvPr/>
        </p:nvSpPr>
        <p:spPr>
          <a:xfrm>
            <a:off x="914400" y="4517136"/>
            <a:ext cx="3474720" cy="384048"/>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Tapping a wave for energy</a:t>
            </a:r>
            <a:endParaRPr lang="en-US" sz="1100" dirty="0"/>
          </a:p>
        </p:txBody>
      </p:sp>
      <p:sp>
        <p:nvSpPr>
          <p:cNvPr id="20" name="Text 18"/>
          <p:cNvSpPr/>
          <p:nvPr/>
        </p:nvSpPr>
        <p:spPr>
          <a:xfrm>
            <a:off x="4297680" y="4517136"/>
            <a:ext cx="365760" cy="384048"/>
          </a:xfrm>
          <a:prstGeom prst="rect">
            <a:avLst/>
          </a:prstGeom>
          <a:noFill/>
          <a:ln/>
        </p:spPr>
        <p:txBody>
          <a:bodyPr wrap="square" lIns="0" tIns="0" rIns="0" bIns="0" rtlCol="0" anchor="ctr"/>
          <a:lstStyle/>
          <a:p>
            <a:pPr algn="ctr" indent="0" marL="0">
              <a:buNone/>
            </a:pPr>
            <a:r>
              <a:rPr lang="en-US" sz="1400" dirty="0">
                <a:solidFill>
                  <a:srgbClr val="10B981"/>
                </a:solidFill>
              </a:rPr>
              <a:t>→</a:t>
            </a:r>
            <a:endParaRPr lang="en-US" sz="1400" dirty="0"/>
          </a:p>
        </p:txBody>
      </p:sp>
      <p:sp>
        <p:nvSpPr>
          <p:cNvPr id="21" name="Text 19"/>
          <p:cNvSpPr/>
          <p:nvPr/>
        </p:nvSpPr>
        <p:spPr>
          <a:xfrm>
            <a:off x="4663440" y="4517136"/>
            <a:ext cx="3657600" cy="384048"/>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Our device — the Membrane Resonance Generator</a:t>
            </a:r>
            <a:endParaRPr lang="en-US" sz="1100" dirty="0"/>
          </a:p>
        </p:txBody>
      </p:sp>
      <p:sp>
        <p:nvSpPr>
          <p:cNvPr id="22" name="Shape 20"/>
          <p:cNvSpPr/>
          <p:nvPr/>
        </p:nvSpPr>
        <p:spPr>
          <a:xfrm>
            <a:off x="0" y="4919472"/>
            <a:ext cx="9144000" cy="228600"/>
          </a:xfrm>
          <a:prstGeom prst="rect">
            <a:avLst/>
          </a:prstGeom>
          <a:solidFill>
            <a:srgbClr val="1C2333"/>
          </a:solidFill>
          <a:ln/>
        </p:spPr>
      </p:sp>
      <p:sp>
        <p:nvSpPr>
          <p:cNvPr id="23" name="Text 21"/>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6B6D4"/>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600" dirty="0">
                <a:solidFill>
                  <a:srgbClr val="06B6D4"/>
                </a:solidFill>
                <a:latin typeface="Georgia" pitchFamily="34" charset="0"/>
                <a:ea typeface="Georgia" pitchFamily="34" charset="-122"/>
                <a:cs typeface="Georgia" pitchFamily="34" charset="-120"/>
              </a:rPr>
              <a:t>PROOF THE VACUUM HAS ENERGY</a:t>
            </a:r>
            <a:endParaRPr lang="en-US" sz="26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The Casimir Effect — Measured, Repeatable, Real</a:t>
            </a:r>
            <a:endParaRPr lang="en-US" sz="1300" dirty="0"/>
          </a:p>
        </p:txBody>
      </p:sp>
      <p:sp>
        <p:nvSpPr>
          <p:cNvPr id="5" name="Shape 3"/>
          <p:cNvSpPr/>
          <p:nvPr/>
        </p:nvSpPr>
        <p:spPr>
          <a:xfrm>
            <a:off x="731520" y="1143000"/>
            <a:ext cx="4572000" cy="356616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Text 4"/>
          <p:cNvSpPr/>
          <p:nvPr/>
        </p:nvSpPr>
        <p:spPr>
          <a:xfrm>
            <a:off x="914400" y="1234440"/>
            <a:ext cx="4206240" cy="33832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experiment is deceptively simple:</a:t>
            </a:r>
            <a:endParaRPr lang="en-US" sz="1300" dirty="0"/>
          </a:p>
          <a:p>
            <a:pPr indent="0" marL="0">
              <a:buNone/>
            </a:pPr>
            <a:endParaRPr lang="en-US" sz="1300" dirty="0"/>
          </a:p>
          <a:p>
            <a:pPr indent="0" marL="0">
              <a:buNone/>
            </a:pPr>
            <a:r>
              <a:rPr lang="en-US" sz="1100" dirty="0">
                <a:solidFill>
                  <a:srgbClr val="D1D5DB"/>
                </a:solidFill>
                <a:latin typeface="Calibri" pitchFamily="34" charset="0"/>
                <a:ea typeface="Calibri" pitchFamily="34" charset="-122"/>
                <a:cs typeface="Calibri" pitchFamily="34" charset="-120"/>
              </a:rPr>
              <a:t>Take two perfectly flat, uncharged metal plates. No electric field. No magnetic field. No gravity worth mentioning. Place them very close together — about 100 nanometers apart (1/1000th the width of a hair).</a:t>
            </a:r>
            <a:endParaRPr lang="en-US" sz="1300" dirty="0"/>
          </a:p>
          <a:p>
            <a:pPr indent="0" marL="0">
              <a:buNone/>
            </a:pPr>
            <a:endParaRPr lang="en-US" sz="1300" dirty="0"/>
          </a:p>
          <a:p>
            <a:pPr indent="0" marL="0">
              <a:buNone/>
            </a:pPr>
            <a:r>
              <a:rPr lang="en-US" sz="1400" b="1" dirty="0">
                <a:solidFill>
                  <a:srgbClr val="F59E0B"/>
                </a:solidFill>
                <a:latin typeface="Calibri" pitchFamily="34" charset="0"/>
                <a:ea typeface="Calibri" pitchFamily="34" charset="-122"/>
                <a:cs typeface="Calibri" pitchFamily="34" charset="-120"/>
              </a:rPr>
              <a:t>Let go. They pull together.</a:t>
            </a:r>
            <a:endParaRPr lang="en-US" sz="1300" dirty="0"/>
          </a:p>
          <a:p>
            <a:pPr indent="0" marL="0">
              <a:buNone/>
            </a:pPr>
            <a:endParaRPr lang="en-US" sz="1300" dirty="0"/>
          </a:p>
          <a:p>
            <a:pPr indent="0" marL="0">
              <a:buNone/>
            </a:pPr>
            <a:r>
              <a:rPr lang="en-US" sz="1100" dirty="0">
                <a:solidFill>
                  <a:srgbClr val="9CA3AF"/>
                </a:solidFill>
                <a:latin typeface="Calibri" pitchFamily="34" charset="0"/>
                <a:ea typeface="Calibri" pitchFamily="34" charset="-122"/>
                <a:cs typeface="Calibri" pitchFamily="34" charset="-120"/>
              </a:rPr>
              <a:t>There is nothing between them. No charge, no magnetism. Yet a real, measurable force pushes them together. First measured by Steve Lamoreaux at Yale (1997), confirmed to within 1% by multiple labs.</a:t>
            </a:r>
            <a:endParaRPr lang="en-US" sz="1300" dirty="0"/>
          </a:p>
          <a:p>
            <a:pPr indent="0" marL="0">
              <a:buNone/>
            </a:pPr>
            <a:endParaRPr lang="en-US" sz="1300" dirty="0"/>
          </a:p>
          <a:p>
            <a:pPr indent="0" marL="0">
              <a:buNone/>
            </a:pPr>
            <a:r>
              <a:rPr lang="en-US" sz="1100" dirty="0">
                <a:solidFill>
                  <a:srgbClr val="D1D5DB"/>
                </a:solidFill>
                <a:latin typeface="Calibri" pitchFamily="34" charset="0"/>
                <a:ea typeface="Calibri" pitchFamily="34" charset="-122"/>
                <a:cs typeface="Calibri" pitchFamily="34" charset="-120"/>
              </a:rPr>
              <a:t>Why? Because the vacuum has MORE vibrations outside the plates than between them. The metal walls block some wavelengths from fitting in the gap. More pressure outside than inside = net inward force.</a:t>
            </a:r>
            <a:endParaRPr lang="en-US" sz="1300" dirty="0"/>
          </a:p>
          <a:p>
            <a:pPr indent="0" marL="0">
              <a:buNone/>
            </a:pPr>
            <a:endParaRPr lang="en-US" sz="1300" dirty="0"/>
          </a:p>
          <a:p>
            <a:pPr indent="0" marL="0">
              <a:buNone/>
            </a:pPr>
            <a:r>
              <a:rPr lang="en-US" sz="1200" b="1" dirty="0">
                <a:solidFill>
                  <a:srgbClr val="06B6D4"/>
                </a:solidFill>
                <a:latin typeface="Calibri" pitchFamily="34" charset="0"/>
                <a:ea typeface="Calibri" pitchFamily="34" charset="-122"/>
                <a:cs typeface="Calibri" pitchFamily="34" charset="-120"/>
              </a:rPr>
              <a:t>The force at 100nm: about 1 atmosphere of pressure per cm². The vacuum pushes THAT hard.</a:t>
            </a:r>
            <a:endParaRPr lang="en-US" sz="1300" dirty="0"/>
          </a:p>
        </p:txBody>
      </p:sp>
      <p:sp>
        <p:nvSpPr>
          <p:cNvPr id="7" name="Shape 5"/>
          <p:cNvSpPr/>
          <p:nvPr/>
        </p:nvSpPr>
        <p:spPr>
          <a:xfrm>
            <a:off x="5577840" y="1143000"/>
            <a:ext cx="2834640" cy="356616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8" name="Shape 6"/>
          <p:cNvSpPr/>
          <p:nvPr/>
        </p:nvSpPr>
        <p:spPr>
          <a:xfrm>
            <a:off x="5577840" y="1143000"/>
            <a:ext cx="54864" cy="3566160"/>
          </a:xfrm>
          <a:prstGeom prst="rect">
            <a:avLst/>
          </a:prstGeom>
          <a:solidFill>
            <a:srgbClr val="10B981"/>
          </a:solidFill>
          <a:ln/>
        </p:spPr>
      </p:sp>
      <p:sp>
        <p:nvSpPr>
          <p:cNvPr id="9" name="Text 7"/>
          <p:cNvSpPr/>
          <p:nvPr/>
        </p:nvSpPr>
        <p:spPr>
          <a:xfrm>
            <a:off x="5852160" y="1280160"/>
            <a:ext cx="2377440" cy="36576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What This Proves</a:t>
            </a:r>
            <a:endParaRPr lang="en-US" sz="1400" dirty="0"/>
          </a:p>
        </p:txBody>
      </p:sp>
      <p:sp>
        <p:nvSpPr>
          <p:cNvPr id="10" name="Text 8"/>
          <p:cNvSpPr/>
          <p:nvPr/>
        </p:nvSpPr>
        <p:spPr>
          <a:xfrm>
            <a:off x="5852160" y="1737360"/>
            <a:ext cx="2377440" cy="2743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"Empty" space is full of energy</a:t>
            </a:r>
            <a:endParaRPr lang="en-US" sz="1200" dirty="0"/>
          </a:p>
          <a:p>
            <a:pPr indent="0" marL="0">
              <a:buNone/>
            </a:pPr>
            <a:endParaRPr lang="en-US" sz="1200" dirty="0"/>
          </a:p>
          <a:p>
            <a:pPr indent="0" marL="0">
              <a:buNone/>
            </a:pPr>
            <a:r>
              <a:rPr lang="en-US" sz="1100" dirty="0">
                <a:solidFill>
                  <a:srgbClr val="9CA3AF"/>
                </a:solidFill>
                <a:latin typeface="Calibri" pitchFamily="34" charset="0"/>
                <a:ea typeface="Calibri" pitchFamily="34" charset="-122"/>
                <a:cs typeface="Calibri" pitchFamily="34" charset="-120"/>
              </a:rPr>
              <a:t>The vacuum pushes. It exerts real mechanical force. If it were truly empty, there would be no force, no fluctuations, no pressure.</a:t>
            </a:r>
            <a:endParaRPr lang="en-US" sz="1200" dirty="0"/>
          </a:p>
          <a:p>
            <a:pPr indent="0" marL="0">
              <a:buNone/>
            </a:pPr>
            <a:endParaRPr lang="en-US" sz="1200" dirty="0"/>
          </a:p>
          <a:p>
            <a:pPr indent="0" marL="0">
              <a:buNone/>
            </a:pPr>
            <a:r>
              <a:rPr lang="en-US" sz="1200" b="1" dirty="0">
                <a:solidFill>
                  <a:srgbClr val="F59E0B"/>
                </a:solidFill>
                <a:latin typeface="Calibri" pitchFamily="34" charset="0"/>
                <a:ea typeface="Calibri" pitchFamily="34" charset="-122"/>
                <a:cs typeface="Calibri" pitchFamily="34" charset="-120"/>
              </a:rPr>
              <a:t>Everyone agrees on this.</a:t>
            </a:r>
            <a:endParaRPr lang="en-US" sz="1200" dirty="0"/>
          </a:p>
          <a:p>
            <a:pPr indent="0" marL="0">
              <a:buNone/>
            </a:pPr>
            <a:endParaRPr lang="en-US" sz="1200" dirty="0"/>
          </a:p>
          <a:p>
            <a:pPr indent="0" marL="0">
              <a:buNone/>
            </a:pPr>
            <a:r>
              <a:rPr lang="en-US" sz="1100" dirty="0">
                <a:solidFill>
                  <a:srgbClr val="D1D5DB"/>
                </a:solidFill>
                <a:latin typeface="Calibri" pitchFamily="34" charset="0"/>
                <a:ea typeface="Calibri" pitchFamily="34" charset="-122"/>
                <a:cs typeface="Calibri" pitchFamily="34" charset="-120"/>
              </a:rPr>
              <a:t>The only disagreement is whether you can harvest it. Standard physics says no (ground state). We say yes (driven membrane).</a:t>
            </a:r>
            <a:endParaRPr lang="en-US" sz="1200" dirty="0"/>
          </a:p>
        </p:txBody>
      </p:sp>
      <p:sp>
        <p:nvSpPr>
          <p:cNvPr id="11" name="Shape 9"/>
          <p:cNvSpPr/>
          <p:nvPr/>
        </p:nvSpPr>
        <p:spPr>
          <a:xfrm>
            <a:off x="0" y="4919472"/>
            <a:ext cx="9144000" cy="228600"/>
          </a:xfrm>
          <a:prstGeom prst="rect">
            <a:avLst/>
          </a:prstGeom>
          <a:solidFill>
            <a:srgbClr val="1C2333"/>
          </a:solidFill>
          <a:ln/>
        </p:spPr>
      </p:sp>
      <p:sp>
        <p:nvSpPr>
          <p:cNvPr id="12" name="Text 10"/>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8B5CF6"/>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600" dirty="0">
                <a:solidFill>
                  <a:srgbClr val="8B5CF6"/>
                </a:solidFill>
                <a:latin typeface="Georgia" pitchFamily="34" charset="0"/>
                <a:ea typeface="Georgia" pitchFamily="34" charset="-122"/>
                <a:cs typeface="Georgia" pitchFamily="34" charset="-120"/>
              </a:rPr>
              <a:t>PHOTONS FROM NOTHING</a:t>
            </a:r>
            <a:endParaRPr lang="en-US" sz="26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The 2011 Chalmers Experiment — Real Light Created from Vacuum</a:t>
            </a:r>
            <a:endParaRPr lang="en-US" sz="1300" dirty="0"/>
          </a:p>
        </p:txBody>
      </p:sp>
      <p:sp>
        <p:nvSpPr>
          <p:cNvPr id="5" name="Shape 3"/>
          <p:cNvSpPr/>
          <p:nvPr/>
        </p:nvSpPr>
        <p:spPr>
          <a:xfrm>
            <a:off x="731520" y="1143000"/>
            <a:ext cx="7680960" cy="365760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Text 4"/>
          <p:cNvSpPr/>
          <p:nvPr/>
        </p:nvSpPr>
        <p:spPr>
          <a:xfrm>
            <a:off x="1005840" y="1234440"/>
            <a:ext cx="7132320" cy="3474720"/>
          </a:xfrm>
          <a:prstGeom prst="rect">
            <a:avLst/>
          </a:prstGeom>
          <a:noFill/>
          <a:ln/>
        </p:spPr>
        <p:txBody>
          <a:bodyPr wrap="square" lIns="0" tIns="0" rIns="0" bIns="0" rtlCol="0" anchor="ctr"/>
          <a:lstStyle/>
          <a:p>
            <a:pPr indent="0" marL="0">
              <a:buNone/>
            </a:pPr>
            <a:r>
              <a:rPr lang="en-US" sz="1200" dirty="0">
                <a:solidFill>
                  <a:srgbClr val="D1D5DB"/>
                </a:solidFill>
                <a:latin typeface="Calibri" pitchFamily="34" charset="0"/>
                <a:ea typeface="Calibri" pitchFamily="34" charset="-122"/>
                <a:cs typeface="Calibri" pitchFamily="34" charset="-120"/>
              </a:rPr>
              <a:t>In 1970, Gerald Moore predicted: if you move a mirror fast enough, it will shake real photons loose from the vacuum. Not reflect existing light — create NEW light from empty space.</a:t>
            </a:r>
            <a:endParaRPr lang="en-US" sz="1200" dirty="0"/>
          </a:p>
          <a:p>
            <a:pPr indent="0" marL="0">
              <a:buNone/>
            </a:pPr>
            <a:endParaRPr lang="en-US" sz="1200" dirty="0"/>
          </a:p>
          <a:p>
            <a:pPr indent="0" marL="0">
              <a:buNone/>
            </a:pPr>
            <a:r>
              <a:rPr lang="en-US" sz="1200" dirty="0">
                <a:solidFill>
                  <a:srgbClr val="9CA3AF"/>
                </a:solidFill>
                <a:latin typeface="Calibri" pitchFamily="34" charset="0"/>
                <a:ea typeface="Calibri" pitchFamily="34" charset="-122"/>
                <a:cs typeface="Calibri" pitchFamily="34" charset="-120"/>
              </a:rPr>
              <a:t>The catch: "fast enough" means ~5% the speed of light. No physical mirror can move that fast.</a:t>
            </a:r>
            <a:endParaRPr lang="en-US" sz="1200" dirty="0"/>
          </a:p>
          <a:p>
            <a:pPr indent="0" marL="0">
              <a:buNone/>
            </a:pPr>
            <a:endParaRPr lang="en-US" sz="1200" dirty="0"/>
          </a:p>
          <a:p>
            <a:pPr indent="0" marL="0">
              <a:buNone/>
            </a:pPr>
            <a:r>
              <a:rPr lang="en-US" sz="1300" b="1" dirty="0">
                <a:solidFill>
                  <a:srgbClr val="8B5CF6"/>
                </a:solidFill>
                <a:latin typeface="Calibri" pitchFamily="34" charset="0"/>
                <a:ea typeface="Calibri" pitchFamily="34" charset="-122"/>
                <a:cs typeface="Calibri" pitchFamily="34" charset="-120"/>
              </a:rPr>
              <a:t>The breakthrough (Chalmers University, Sweden, 2011):</a:t>
            </a:r>
            <a:endParaRPr lang="en-US" sz="1200" dirty="0"/>
          </a:p>
          <a:p>
            <a:pPr indent="0" marL="0">
              <a:buNone/>
            </a:pPr>
            <a:endParaRPr lang="en-US" sz="1200" dirty="0"/>
          </a:p>
          <a:p>
            <a:pPr indent="0" marL="0">
              <a:buNone/>
            </a:pPr>
            <a:r>
              <a:rPr lang="en-US" sz="1200" dirty="0">
                <a:solidFill>
                  <a:srgbClr val="D1D5DB"/>
                </a:solidFill>
                <a:latin typeface="Calibri" pitchFamily="34" charset="0"/>
                <a:ea typeface="Calibri" pitchFamily="34" charset="-122"/>
                <a:cs typeface="Calibri" pitchFamily="34" charset="-120"/>
              </a:rPr>
              <a:t>Christopher Wilson's team didn't move a physical mirror. They used a SQUID (superconducting circuit) to oscillate an electromagnetic boundary at 10 billion times per second — making the effective "mirror" flicker at 5% lightspeed. No physical object moved that fast. The boundary just appeared to be in different places at different times.</a:t>
            </a:r>
            <a:endParaRPr lang="en-US" sz="1200" dirty="0"/>
          </a:p>
          <a:p>
            <a:pPr indent="0" marL="0">
              <a:buNone/>
            </a:pP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Result: real microwave photons appeared. Cooled to near absolute zero (no thermal radiation), so ANY photons had to come from the vacuum itself. The photons came in correlated pairs — exactly matching theory.</a:t>
            </a:r>
            <a:endParaRPr lang="en-US" sz="1200" dirty="0"/>
          </a:p>
          <a:p>
            <a:pPr indent="0" marL="0">
              <a:buNone/>
            </a:pPr>
            <a:endParaRPr lang="en-US" sz="1200" dirty="0"/>
          </a:p>
          <a:p>
            <a:pPr indent="0" marL="0">
              <a:buNone/>
            </a:pPr>
            <a:r>
              <a:rPr lang="en-US" sz="1200" dirty="0">
                <a:solidFill>
                  <a:srgbClr val="8B5CF6"/>
                </a:solidFill>
                <a:latin typeface="Calibri" pitchFamily="34" charset="0"/>
                <a:ea typeface="Calibri" pitchFamily="34" charset="-122"/>
                <a:cs typeface="Calibri" pitchFamily="34" charset="-120"/>
              </a:rPr>
              <a:t>What this proves for us: vacuum fluctuations CAN be converted into real, detectable energy. The membrane gives up real energy when disturbed correctly. The 2011 experiment is proof of concept.</a:t>
            </a:r>
            <a:endParaRPr lang="en-US" sz="1200" dirty="0"/>
          </a:p>
          <a:p>
            <a:pPr indent="0" marL="0">
              <a:buNone/>
            </a:pPr>
            <a:endParaRPr lang="en-US" sz="1200" dirty="0"/>
          </a:p>
          <a:p>
            <a:pPr indent="0" marL="0">
              <a:buNone/>
            </a:pPr>
            <a:r>
              <a:rPr lang="en-US" sz="1100" i="1" dirty="0">
                <a:solidFill>
                  <a:srgbClr val="9CA3AF"/>
                </a:solidFill>
                <a:latin typeface="Calibri" pitchFamily="34" charset="0"/>
                <a:ea typeface="Calibri" pitchFamily="34" charset="-122"/>
                <a:cs typeface="Calibri" pitchFamily="34" charset="-120"/>
              </a:rPr>
              <a:t>The limitation: it required cryogenic temperatures and produced only a trickle of photons. Our device aims to achieve similar physics at room temperature, using resonance instead of superconductors.</a:t>
            </a:r>
            <a:endParaRPr lang="en-US" sz="1200" dirty="0"/>
          </a:p>
        </p:txBody>
      </p:sp>
      <p:sp>
        <p:nvSpPr>
          <p:cNvPr id="7" name="Shape 5"/>
          <p:cNvSpPr/>
          <p:nvPr/>
        </p:nvSpPr>
        <p:spPr>
          <a:xfrm>
            <a:off x="0" y="4919472"/>
            <a:ext cx="9144000" cy="228600"/>
          </a:xfrm>
          <a:prstGeom prst="rect">
            <a:avLst/>
          </a:prstGeom>
          <a:solidFill>
            <a:srgbClr val="1C2333"/>
          </a:solidFill>
          <a:ln/>
        </p:spPr>
      </p:sp>
      <p:sp>
        <p:nvSpPr>
          <p:cNvPr id="8" name="Text 6"/>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59E0B"/>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600" dirty="0">
                <a:solidFill>
                  <a:srgbClr val="F59E0B"/>
                </a:solidFill>
                <a:latin typeface="Georgia" pitchFamily="34" charset="0"/>
                <a:ea typeface="Georgia" pitchFamily="34" charset="-122"/>
                <a:cs typeface="Georgia" pitchFamily="34" charset="-120"/>
              </a:rPr>
              <a:t>THE THERMODYNAMIC ARGUMENT</a:t>
            </a:r>
            <a:endParaRPr lang="en-US" sz="26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Why Standard Physics Says No — and Why We Disagree</a:t>
            </a:r>
            <a:endParaRPr lang="en-US" sz="1300" dirty="0"/>
          </a:p>
        </p:txBody>
      </p:sp>
      <p:sp>
        <p:nvSpPr>
          <p:cNvPr id="5" name="Shape 3"/>
          <p:cNvSpPr/>
          <p:nvPr/>
        </p:nvSpPr>
        <p:spPr>
          <a:xfrm>
            <a:off x="731520" y="1097280"/>
            <a:ext cx="3657600" cy="256032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Shape 4"/>
          <p:cNvSpPr/>
          <p:nvPr/>
        </p:nvSpPr>
        <p:spPr>
          <a:xfrm>
            <a:off x="731520" y="1097280"/>
            <a:ext cx="54864" cy="2560320"/>
          </a:xfrm>
          <a:prstGeom prst="rect">
            <a:avLst/>
          </a:prstGeom>
          <a:solidFill>
            <a:srgbClr val="EF4444"/>
          </a:solidFill>
          <a:ln/>
        </p:spPr>
      </p:sp>
      <p:pic>
        <p:nvPicPr>
          <p:cNvPr id="7" name="Image 0" descr="preencoded.png">    </p:cNvPr>
          <p:cNvPicPr>
            <a:picLocks noChangeAspect="1"/>
          </p:cNvPicPr>
          <p:nvPr/>
        </p:nvPicPr>
        <p:blipFill>
          <a:blip r:embed="rId1"/>
          <a:stretch>
            <a:fillRect/>
          </a:stretch>
        </p:blipFill>
        <p:spPr>
          <a:xfrm>
            <a:off x="1005840" y="1188720"/>
            <a:ext cx="320040" cy="320040"/>
          </a:xfrm>
          <a:prstGeom prst="rect">
            <a:avLst/>
          </a:prstGeom>
        </p:spPr>
      </p:pic>
      <p:sp>
        <p:nvSpPr>
          <p:cNvPr id="8" name="Text 5"/>
          <p:cNvSpPr/>
          <p:nvPr/>
        </p:nvSpPr>
        <p:spPr>
          <a:xfrm>
            <a:off x="1417320" y="1188720"/>
            <a:ext cx="274320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Standard: Closed System</a:t>
            </a:r>
            <a:endParaRPr lang="en-US" sz="1300" dirty="0"/>
          </a:p>
        </p:txBody>
      </p:sp>
      <p:sp>
        <p:nvSpPr>
          <p:cNvPr id="9" name="Text 6"/>
          <p:cNvSpPr/>
          <p:nvPr/>
        </p:nvSpPr>
        <p:spPr>
          <a:xfrm>
            <a:off x="1005840" y="1645920"/>
            <a:ext cx="3200400" cy="1828800"/>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Vacuum = ground state (lowest energy)</a:t>
            </a:r>
            <a:endParaRPr lang="en-US" sz="1100" dirty="0"/>
          </a:p>
          <a:p>
            <a:pPr indent="0" marL="0">
              <a:buNone/>
            </a:pPr>
            <a:endParaRPr lang="en-US" sz="1100" dirty="0"/>
          </a:p>
          <a:p>
            <a:pPr indent="0" marL="0">
              <a:buNone/>
            </a:pPr>
            <a:r>
              <a:rPr lang="en-US" sz="1100" dirty="0">
                <a:solidFill>
                  <a:srgbClr val="9CA3AF"/>
                </a:solidFill>
                <a:latin typeface="Calibri" pitchFamily="34" charset="0"/>
                <a:ea typeface="Calibri" pitchFamily="34" charset="-122"/>
                <a:cs typeface="Calibri" pitchFamily="34" charset="-120"/>
              </a:rPr>
              <a:t>Like a spring: compress it, get energy. But to reset it, you spend the same energy. Net over a cycle: zero.</a:t>
            </a:r>
            <a:endParaRPr lang="en-US" sz="1100" dirty="0"/>
          </a:p>
          <a:p>
            <a:pPr indent="0" marL="0">
              <a:buNone/>
            </a:pPr>
            <a:endParaRPr lang="en-US" sz="1100" dirty="0"/>
          </a:p>
          <a:p>
            <a:pPr indent="0" marL="0">
              <a:buNone/>
            </a:pPr>
            <a:r>
              <a:rPr lang="en-US" sz="1100" i="1" dirty="0">
                <a:solidFill>
                  <a:srgbClr val="EF4444"/>
                </a:solidFill>
                <a:latin typeface="Calibri" pitchFamily="34" charset="0"/>
                <a:ea typeface="Calibri" pitchFamily="34" charset="-122"/>
                <a:cs typeface="Calibri" pitchFamily="34" charset="-120"/>
              </a:rPr>
              <a:t>The math is airtight IF the vacuum is a passive equilibrium with nothing driving it.</a:t>
            </a:r>
            <a:endParaRPr lang="en-US" sz="1100" dirty="0"/>
          </a:p>
        </p:txBody>
      </p:sp>
      <p:sp>
        <p:nvSpPr>
          <p:cNvPr id="10" name="Shape 7"/>
          <p:cNvSpPr/>
          <p:nvPr/>
        </p:nvSpPr>
        <p:spPr>
          <a:xfrm>
            <a:off x="4754880" y="1097280"/>
            <a:ext cx="3657600" cy="256032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11" name="Shape 8"/>
          <p:cNvSpPr/>
          <p:nvPr/>
        </p:nvSpPr>
        <p:spPr>
          <a:xfrm>
            <a:off x="4754880" y="1097280"/>
            <a:ext cx="54864" cy="2560320"/>
          </a:xfrm>
          <a:prstGeom prst="rect">
            <a:avLst/>
          </a:prstGeom>
          <a:solidFill>
            <a:srgbClr val="10B981"/>
          </a:solidFill>
          <a:ln/>
        </p:spPr>
      </p:sp>
      <p:pic>
        <p:nvPicPr>
          <p:cNvPr id="12" name="Image 1" descr="preencoded.png">    </p:cNvPr>
          <p:cNvPicPr>
            <a:picLocks noChangeAspect="1"/>
          </p:cNvPicPr>
          <p:nvPr/>
        </p:nvPicPr>
        <p:blipFill>
          <a:blip r:embed="rId2"/>
          <a:stretch>
            <a:fillRect/>
          </a:stretch>
        </p:blipFill>
        <p:spPr>
          <a:xfrm>
            <a:off x="5029200" y="1188720"/>
            <a:ext cx="320040" cy="320040"/>
          </a:xfrm>
          <a:prstGeom prst="rect">
            <a:avLst/>
          </a:prstGeom>
        </p:spPr>
      </p:pic>
      <p:sp>
        <p:nvSpPr>
          <p:cNvPr id="13" name="Text 9"/>
          <p:cNvSpPr/>
          <p:nvPr/>
        </p:nvSpPr>
        <p:spPr>
          <a:xfrm>
            <a:off x="5440680" y="1188720"/>
            <a:ext cx="2743200" cy="32004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Ours: Open System</a:t>
            </a:r>
            <a:endParaRPr lang="en-US" sz="1300" dirty="0"/>
          </a:p>
        </p:txBody>
      </p:sp>
      <p:sp>
        <p:nvSpPr>
          <p:cNvPr id="14" name="Text 10"/>
          <p:cNvSpPr/>
          <p:nvPr/>
        </p:nvSpPr>
        <p:spPr>
          <a:xfrm>
            <a:off x="5029200" y="1645920"/>
            <a:ext cx="3200400" cy="1828800"/>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Vacuum = driven membrane (external pressure)</a:t>
            </a:r>
            <a:endParaRPr lang="en-US" sz="1100" dirty="0"/>
          </a:p>
          <a:p>
            <a:pPr indent="0" marL="0">
              <a:buNone/>
            </a:pPr>
            <a:endParaRPr lang="en-US" sz="1100" dirty="0"/>
          </a:p>
          <a:p>
            <a:pPr indent="0" marL="0">
              <a:buNone/>
            </a:pPr>
            <a:r>
              <a:rPr lang="en-US" sz="1100" dirty="0">
                <a:solidFill>
                  <a:srgbClr val="9CA3AF"/>
                </a:solidFill>
                <a:latin typeface="Calibri" pitchFamily="34" charset="0"/>
                <a:ea typeface="Calibri" pitchFamily="34" charset="-122"/>
                <a:cs typeface="Calibri" pitchFamily="34" charset="-120"/>
              </a:rPr>
              <a:t>Like a river: the dam extracts energy. The river refills from rain. The rain comes from the sun. External source, continuous flow.</a:t>
            </a:r>
            <a:endParaRPr lang="en-US" sz="1100" dirty="0"/>
          </a:p>
          <a:p>
            <a:pPr indent="0" marL="0">
              <a:buNone/>
            </a:pPr>
            <a:endParaRPr lang="en-US" sz="1100" dirty="0"/>
          </a:p>
          <a:p>
            <a:pPr indent="0" marL="0">
              <a:buNone/>
            </a:pPr>
            <a:r>
              <a:rPr lang="en-US" sz="1100" i="1" dirty="0">
                <a:solidFill>
                  <a:srgbClr val="10B981"/>
                </a:solidFill>
                <a:latin typeface="Calibri" pitchFamily="34" charset="0"/>
                <a:ea typeface="Calibri" pitchFamily="34" charset="-122"/>
                <a:cs typeface="Calibri" pitchFamily="34" charset="-120"/>
              </a:rPr>
              <a:t>Net extraction is possible because the Waters replenish what's taken. The flow never stops.</a:t>
            </a:r>
            <a:endParaRPr lang="en-US" sz="1100" dirty="0"/>
          </a:p>
        </p:txBody>
      </p:sp>
      <p:sp>
        <p:nvSpPr>
          <p:cNvPr id="15" name="Shape 11"/>
          <p:cNvSpPr/>
          <p:nvPr/>
        </p:nvSpPr>
        <p:spPr>
          <a:xfrm>
            <a:off x="731520" y="3840480"/>
            <a:ext cx="7680960" cy="91440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16" name="Text 12"/>
          <p:cNvSpPr/>
          <p:nvPr/>
        </p:nvSpPr>
        <p:spPr>
          <a:xfrm>
            <a:off x="1005840" y="3931920"/>
            <a:ext cx="7132320" cy="7315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The violin analogy: </a:t>
            </a:r>
            <a:pPr indent="0" marL="0">
              <a:buNone/>
            </a:pPr>
            <a:r>
              <a:rPr lang="en-US" sz="1200" dirty="0">
                <a:solidFill>
                  <a:srgbClr val="D1D5DB"/>
                </a:solidFill>
                <a:latin typeface="Calibri" pitchFamily="34" charset="0"/>
                <a:ea typeface="Calibri" pitchFamily="34" charset="-122"/>
                <a:cs typeface="Calibri" pitchFamily="34" charset="-120"/>
              </a:rPr>
              <a:t>A plucked guitar string decays — you can't extract energy forever (closed system). But a bowed violin string vibrates indefinitely because the bow continuously feeds energy in. Press your finger against it, dampen the vibration, extract energy — the bow replaces it. The Waters are the bow.</a:t>
            </a:r>
            <a:endParaRPr lang="en-US" sz="1200" dirty="0"/>
          </a:p>
        </p:txBody>
      </p:sp>
      <p:sp>
        <p:nvSpPr>
          <p:cNvPr id="17" name="Shape 13"/>
          <p:cNvSpPr/>
          <p:nvPr/>
        </p:nvSpPr>
        <p:spPr>
          <a:xfrm>
            <a:off x="0" y="4919472"/>
            <a:ext cx="9144000" cy="228600"/>
          </a:xfrm>
          <a:prstGeom prst="rect">
            <a:avLst/>
          </a:prstGeom>
          <a:solidFill>
            <a:srgbClr val="1C2333"/>
          </a:solidFill>
          <a:ln/>
        </p:spPr>
      </p:sp>
      <p:sp>
        <p:nvSpPr>
          <p:cNvPr id="18" name="Text 14"/>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6B6D4"/>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400" dirty="0">
                <a:solidFill>
                  <a:srgbClr val="06B6D4"/>
                </a:solidFill>
                <a:latin typeface="Georgia" pitchFamily="34" charset="0"/>
                <a:ea typeface="Georgia" pitchFamily="34" charset="-122"/>
                <a:cs typeface="Georgia" pitchFamily="34" charset="-120"/>
              </a:rPr>
              <a:t>COMPONENT 1: THE COPPER CAVITY</a:t>
            </a:r>
            <a:endParaRPr lang="en-US" sz="24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What It Does and Why</a:t>
            </a:r>
            <a:endParaRPr lang="en-US" sz="1300" dirty="0"/>
          </a:p>
        </p:txBody>
      </p:sp>
      <p:sp>
        <p:nvSpPr>
          <p:cNvPr id="5" name="Shape 3"/>
          <p:cNvSpPr/>
          <p:nvPr/>
        </p:nvSpPr>
        <p:spPr>
          <a:xfrm>
            <a:off x="731520" y="1097280"/>
            <a:ext cx="7680960" cy="365760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Text 4"/>
          <p:cNvSpPr/>
          <p:nvPr/>
        </p:nvSpPr>
        <p:spPr>
          <a:xfrm>
            <a:off x="1005840" y="1188720"/>
            <a:ext cx="7132320" cy="347472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Think of a drum.</a:t>
            </a:r>
            <a:endParaRPr lang="en-US" sz="1500" dirty="0"/>
          </a:p>
          <a:p>
            <a:pPr indent="0" marL="0">
              <a:buNone/>
            </a:pPr>
            <a:endParaRPr lang="en-US" sz="1500" dirty="0"/>
          </a:p>
          <a:p>
            <a:pPr indent="0" marL="0">
              <a:buNone/>
            </a:pPr>
            <a:r>
              <a:rPr lang="en-US" sz="1200" dirty="0">
                <a:solidFill>
                  <a:srgbClr val="D1D5DB"/>
                </a:solidFill>
                <a:latin typeface="Calibri" pitchFamily="34" charset="0"/>
                <a:ea typeface="Calibri" pitchFamily="34" charset="-122"/>
                <a:cs typeface="Calibri" pitchFamily="34" charset="-120"/>
              </a:rPr>
              <a:t>A drum body determines which frequencies are allowed. Tap the head — it vibrates at specific pitches, not all pitches. Big drum = low pitch. Small drum = high pitch. The body acts as a resonator: it selects and amplifies certain vibration patterns while suppressing others.</a:t>
            </a:r>
            <a:endParaRPr lang="en-US" sz="1500" dirty="0"/>
          </a:p>
          <a:p>
            <a:pPr indent="0" marL="0">
              <a:buNone/>
            </a:pPr>
            <a:endParaRPr lang="en-US" sz="1500" dirty="0"/>
          </a:p>
          <a:p>
            <a:pPr indent="0" marL="0">
              <a:buNone/>
            </a:pPr>
            <a:r>
              <a:rPr lang="en-US" sz="1300" b="1" dirty="0">
                <a:solidFill>
                  <a:srgbClr val="06B6D4"/>
                </a:solidFill>
                <a:latin typeface="Calibri" pitchFamily="34" charset="0"/>
                <a:ea typeface="Calibri" pitchFamily="34" charset="-122"/>
                <a:cs typeface="Calibri" pitchFamily="34" charset="-120"/>
              </a:rPr>
              <a:t>The copper cavity does the same thing to vacuum fluctuations.</a:t>
            </a:r>
            <a:endParaRPr lang="en-US" sz="1500" dirty="0"/>
          </a:p>
          <a:p>
            <a:pPr indent="0" marL="0">
              <a:buNone/>
            </a:pPr>
            <a:endParaRPr lang="en-US" sz="1500" dirty="0"/>
          </a:p>
          <a:p>
            <a:pPr indent="0" marL="0">
              <a:buNone/>
            </a:pPr>
            <a:r>
              <a:rPr lang="en-US" sz="1200" dirty="0">
                <a:solidFill>
                  <a:srgbClr val="9CA3AF"/>
                </a:solidFill>
                <a:latin typeface="Calibri" pitchFamily="34" charset="0"/>
                <a:ea typeface="Calibri" pitchFamily="34" charset="-122"/>
                <a:cs typeface="Calibri" pitchFamily="34" charset="-120"/>
              </a:rPr>
              <a:t>Copper is an excellent electrical conductor — electromagnetic waves bounce off copper walls. Inside the cavity, only waves that "fit" the cavity dimensions can exist. All other wavelengths are suppressed.</a:t>
            </a:r>
            <a:endParaRPr lang="en-US" sz="1500" dirty="0"/>
          </a:p>
          <a:p>
            <a:pPr indent="0" marL="0">
              <a:buNone/>
            </a:pPr>
            <a:endParaRPr lang="en-US" sz="1500" dirty="0"/>
          </a:p>
          <a:p>
            <a:pPr indent="0" marL="0">
              <a:buNone/>
            </a:pPr>
            <a:r>
              <a:rPr lang="en-US" sz="1200" dirty="0">
                <a:solidFill>
                  <a:srgbClr val="D1D5DB"/>
                </a:solidFill>
                <a:latin typeface="Calibri" pitchFamily="34" charset="0"/>
                <a:ea typeface="Calibri" pitchFamily="34" charset="-122"/>
                <a:cs typeface="Calibri" pitchFamily="34" charset="-120"/>
              </a:rPr>
              <a:t>A 4-inch cavity resonates at ~1.14 GHz (TE₁₁ mode). At this frequency, the membrane's energy is concentrated and amplified inside the cavity. Everything else is filtered out.</a:t>
            </a:r>
            <a:endParaRPr lang="en-US" sz="1500" dirty="0"/>
          </a:p>
          <a:p>
            <a:pPr indent="0" marL="0">
              <a:buNone/>
            </a:pPr>
            <a:endParaRPr lang="en-US" sz="1500" dirty="0"/>
          </a:p>
          <a:p>
            <a:pPr indent="0" marL="0">
              <a:buNone/>
            </a:pPr>
            <a:r>
              <a:rPr lang="en-US" sz="1200" i="1" dirty="0">
                <a:solidFill>
                  <a:srgbClr val="06B6D4"/>
                </a:solidFill>
                <a:latin typeface="Calibri" pitchFamily="34" charset="0"/>
                <a:ea typeface="Calibri" pitchFamily="34" charset="-122"/>
                <a:cs typeface="Calibri" pitchFamily="34" charset="-120"/>
              </a:rPr>
              <a:t>Its role: filter the vacuum. Create a structured, non-uniform environment inside — different from the unstructured vacuum outside. That difference is what we exploit.</a:t>
            </a:r>
            <a:endParaRPr lang="en-US" sz="1500" dirty="0"/>
          </a:p>
          <a:p>
            <a:pPr indent="0" marL="0">
              <a:buNone/>
            </a:pPr>
            <a:endParaRPr lang="en-US" sz="1500" dirty="0"/>
          </a:p>
          <a:p>
            <a:pPr indent="0" marL="0">
              <a:buNone/>
            </a:pPr>
            <a:r>
              <a:rPr lang="en-US" sz="1200" dirty="0">
                <a:solidFill>
                  <a:srgbClr val="F59E0B"/>
                </a:solidFill>
                <a:latin typeface="Calibri" pitchFamily="34" charset="0"/>
                <a:ea typeface="Calibri" pitchFamily="34" charset="-122"/>
                <a:cs typeface="Calibri" pitchFamily="34" charset="-120"/>
              </a:rPr>
              <a:t>Think of it like tuning a radio — you're selecting the one channel you want from all the static.</a:t>
            </a:r>
            <a:endParaRPr lang="en-US" sz="1500" dirty="0"/>
          </a:p>
        </p:txBody>
      </p:sp>
      <p:sp>
        <p:nvSpPr>
          <p:cNvPr id="7" name="Shape 5"/>
          <p:cNvSpPr/>
          <p:nvPr/>
        </p:nvSpPr>
        <p:spPr>
          <a:xfrm>
            <a:off x="0" y="4919472"/>
            <a:ext cx="9144000" cy="228600"/>
          </a:xfrm>
          <a:prstGeom prst="rect">
            <a:avLst/>
          </a:prstGeom>
          <a:solidFill>
            <a:srgbClr val="1C2333"/>
          </a:solidFill>
          <a:ln/>
        </p:spPr>
      </p:sp>
      <p:sp>
        <p:nvSpPr>
          <p:cNvPr id="8" name="Text 6"/>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59E0B"/>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400" dirty="0">
                <a:solidFill>
                  <a:srgbClr val="F59E0B"/>
                </a:solidFill>
                <a:latin typeface="Georgia" pitchFamily="34" charset="0"/>
                <a:ea typeface="Georgia" pitchFamily="34" charset="-122"/>
                <a:cs typeface="Georgia" pitchFamily="34" charset="-120"/>
              </a:rPr>
              <a:t>COMPONENT 2: BARIUM TITANATE</a:t>
            </a:r>
            <a:endParaRPr lang="en-US" sz="24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The Dielectric That Creates the Energy Boundary</a:t>
            </a:r>
            <a:endParaRPr lang="en-US" sz="1300" dirty="0"/>
          </a:p>
        </p:txBody>
      </p:sp>
      <p:sp>
        <p:nvSpPr>
          <p:cNvPr id="5" name="Shape 3"/>
          <p:cNvSpPr/>
          <p:nvPr/>
        </p:nvSpPr>
        <p:spPr>
          <a:xfrm>
            <a:off x="731520" y="1097280"/>
            <a:ext cx="7680960" cy="365760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Text 4"/>
          <p:cNvSpPr/>
          <p:nvPr/>
        </p:nvSpPr>
        <p:spPr>
          <a:xfrm>
            <a:off x="1005840" y="1188720"/>
            <a:ext cx="7132320" cy="347472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Think of a rock in a stream.</a:t>
            </a:r>
            <a:endParaRPr lang="en-US" sz="1500" dirty="0"/>
          </a:p>
          <a:p>
            <a:pPr indent="0" marL="0">
              <a:buNone/>
            </a:pPr>
            <a:endParaRPr lang="en-US" sz="1500" dirty="0"/>
          </a:p>
          <a:p>
            <a:pPr indent="0" marL="0">
              <a:buNone/>
            </a:pPr>
            <a:r>
              <a:rPr lang="en-US" sz="1200" dirty="0">
                <a:solidFill>
                  <a:srgbClr val="D1D5DB"/>
                </a:solidFill>
                <a:latin typeface="Calibri" pitchFamily="34" charset="0"/>
                <a:ea typeface="Calibri" pitchFamily="34" charset="-122"/>
                <a:cs typeface="Calibri" pitchFamily="34" charset="-120"/>
              </a:rPr>
              <a:t>The rock doesn't create the water flow. But it radically changes the flow pattern around it — creating eddies, vortices, zones of fast and slow current. The bigger the rock, the bigger the disruption.</a:t>
            </a:r>
            <a:endParaRPr lang="en-US" sz="1500" dirty="0"/>
          </a:p>
          <a:p>
            <a:pPr indent="0" marL="0">
              <a:buNone/>
            </a:pPr>
            <a:endParaRPr lang="en-US" sz="1500" dirty="0"/>
          </a:p>
          <a:p>
            <a:pPr indent="0" marL="0">
              <a:buNone/>
            </a:pPr>
            <a:r>
              <a:rPr lang="en-US" sz="1300" b="1" dirty="0">
                <a:solidFill>
                  <a:srgbClr val="F59E0B"/>
                </a:solidFill>
                <a:latin typeface="Calibri" pitchFamily="34" charset="0"/>
                <a:ea typeface="Calibri" pitchFamily="34" charset="-122"/>
                <a:cs typeface="Calibri" pitchFamily="34" charset="-120"/>
              </a:rPr>
              <a:t>Barium titanate (BaTiO₃) is the rock. Its dielectric constant is 1,200 to 10,000.</a:t>
            </a:r>
            <a:endParaRPr lang="en-US" sz="1500" dirty="0"/>
          </a:p>
          <a:p>
            <a:pPr indent="0" marL="0">
              <a:buNone/>
            </a:pPr>
            <a:endParaRPr lang="en-US" sz="1500" dirty="0"/>
          </a:p>
          <a:p>
            <a:pPr indent="0" marL="0">
              <a:buNone/>
            </a:pPr>
            <a:r>
              <a:rPr lang="en-US" sz="1200" dirty="0">
                <a:solidFill>
                  <a:srgbClr val="9CA3AF"/>
                </a:solidFill>
                <a:latin typeface="Calibri" pitchFamily="34" charset="0"/>
                <a:ea typeface="Calibri" pitchFamily="34" charset="-122"/>
                <a:cs typeface="Calibri" pitchFamily="34" charset="-120"/>
              </a:rPr>
              <a:t>That number measures how strongly the material reshapes electromagnetic fields inside it. Air = 1. Glass = 5. Barium titanate = 1,200+. It's enormous — it intensely concentrates and modifies the local membrane vibration spectrum.</a:t>
            </a:r>
            <a:endParaRPr lang="en-US" sz="1500" dirty="0"/>
          </a:p>
          <a:p>
            <a:pPr indent="0" marL="0">
              <a:buNone/>
            </a:pPr>
            <a:endParaRPr lang="en-US" sz="1500" dirty="0"/>
          </a:p>
          <a:p>
            <a:pPr indent="0" marL="0">
              <a:buNone/>
            </a:pPr>
            <a:r>
              <a:rPr lang="en-US" sz="1300" b="1" dirty="0">
                <a:solidFill>
                  <a:srgbClr val="FFFFFF"/>
                </a:solidFill>
                <a:latin typeface="Calibri" pitchFamily="34" charset="0"/>
                <a:ea typeface="Calibri" pitchFamily="34" charset="-122"/>
                <a:cs typeface="Calibri" pitchFamily="34" charset="-120"/>
              </a:rPr>
              <a:t>The critical action happens at the BOUNDARY.</a:t>
            </a:r>
            <a:endParaRPr lang="en-US" sz="1500" dirty="0"/>
          </a:p>
          <a:p>
            <a:pPr indent="0" marL="0">
              <a:buNone/>
            </a:pPr>
            <a:endParaRPr lang="en-US" sz="1500" dirty="0"/>
          </a:p>
          <a:p>
            <a:pPr indent="0" marL="0">
              <a:buNone/>
            </a:pPr>
            <a:r>
              <a:rPr lang="en-US" sz="1200" dirty="0">
                <a:solidFill>
                  <a:srgbClr val="D1D5DB"/>
                </a:solidFill>
                <a:latin typeface="Calibri" pitchFamily="34" charset="0"/>
                <a:ea typeface="Calibri" pitchFamily="34" charset="-122"/>
                <a:cs typeface="Calibri" pitchFamily="34" charset="-120"/>
              </a:rPr>
              <a:t>Where the barium titanate meets empty space, the membrane mode spectrum changes abruptly — like water flowing over a waterfall when the streambed suddenly drops. This discontinuity creates a net energy flux across the boundary. It's the energy extraction point.</a:t>
            </a:r>
            <a:endParaRPr lang="en-US" sz="1500" dirty="0"/>
          </a:p>
          <a:p>
            <a:pPr indent="0" marL="0">
              <a:buNone/>
            </a:pPr>
            <a:endParaRPr lang="en-US" sz="1500" dirty="0"/>
          </a:p>
          <a:p>
            <a:pPr indent="0" marL="0">
              <a:buNone/>
            </a:pPr>
            <a:r>
              <a:rPr lang="en-US" sz="1200" i="1" dirty="0">
                <a:solidFill>
                  <a:srgbClr val="F97316"/>
                </a:solidFill>
                <a:latin typeface="Calibri" pitchFamily="34" charset="0"/>
                <a:ea typeface="Calibri" pitchFamily="34" charset="-122"/>
                <a:cs typeface="Calibri" pitchFamily="34" charset="-120"/>
              </a:rPr>
              <a:t>More boundaries = more extraction. That's why we stack discs with copper mesh spacers between them — each spacer creates another boundary, another waterfall.</a:t>
            </a:r>
            <a:endParaRPr lang="en-US" sz="1500" dirty="0"/>
          </a:p>
        </p:txBody>
      </p:sp>
      <p:sp>
        <p:nvSpPr>
          <p:cNvPr id="7" name="Shape 5"/>
          <p:cNvSpPr/>
          <p:nvPr/>
        </p:nvSpPr>
        <p:spPr>
          <a:xfrm>
            <a:off x="0" y="4919472"/>
            <a:ext cx="9144000" cy="228600"/>
          </a:xfrm>
          <a:prstGeom prst="rect">
            <a:avLst/>
          </a:prstGeom>
          <a:solidFill>
            <a:srgbClr val="1C2333"/>
          </a:solidFill>
          <a:ln/>
        </p:spPr>
      </p:sp>
      <p:sp>
        <p:nvSpPr>
          <p:cNvPr id="8" name="Text 6"/>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97316"/>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400" dirty="0">
                <a:solidFill>
                  <a:srgbClr val="F97316"/>
                </a:solidFill>
                <a:latin typeface="Georgia" pitchFamily="34" charset="0"/>
                <a:ea typeface="Georgia" pitchFamily="34" charset="-122"/>
                <a:cs typeface="Georgia" pitchFamily="34" charset="-120"/>
              </a:rPr>
              <a:t>COMPONENT 3: THE MAGNETS</a:t>
            </a:r>
            <a:endParaRPr lang="en-US" sz="24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The Ratchet That Makes Net Extraction Possible</a:t>
            </a:r>
            <a:endParaRPr lang="en-US" sz="1300" dirty="0"/>
          </a:p>
        </p:txBody>
      </p:sp>
      <p:sp>
        <p:nvSpPr>
          <p:cNvPr id="5" name="Shape 3"/>
          <p:cNvSpPr/>
          <p:nvPr/>
        </p:nvSpPr>
        <p:spPr>
          <a:xfrm>
            <a:off x="731520" y="1097280"/>
            <a:ext cx="7680960" cy="365760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Text 4"/>
          <p:cNvSpPr/>
          <p:nvPr/>
        </p:nvSpPr>
        <p:spPr>
          <a:xfrm>
            <a:off x="1005840" y="1188720"/>
            <a:ext cx="7132320" cy="347472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Without magnets, energy sloshes equally both ways. Net output: zero.</a:t>
            </a:r>
            <a:endParaRPr lang="en-US" sz="1300" dirty="0"/>
          </a:p>
          <a:p>
            <a:pPr indent="0" marL="0">
              <a:buNone/>
            </a:pPr>
            <a:endParaRPr lang="en-US" sz="1300" dirty="0"/>
          </a:p>
          <a:p>
            <a:pPr indent="0" marL="0">
              <a:buNone/>
            </a:pPr>
            <a:r>
              <a:rPr lang="en-US" sz="1200" dirty="0">
                <a:solidFill>
                  <a:srgbClr val="D1D5DB"/>
                </a:solidFill>
                <a:latin typeface="Calibri" pitchFamily="34" charset="0"/>
                <a:ea typeface="Calibri" pitchFamily="34" charset="-122"/>
                <a:cs typeface="Calibri" pitchFamily="34" charset="-120"/>
              </a:rPr>
              <a:t>Think of ocean waves. Put a float in the water — it goes up, then down, then up. On average, you extract nothing. The energy is there, but it's symmetric.</a:t>
            </a:r>
            <a:endParaRPr lang="en-US" sz="1300" dirty="0"/>
          </a:p>
          <a:p>
            <a:pPr indent="0" marL="0">
              <a:buNone/>
            </a:pPr>
            <a:endParaRPr lang="en-US" sz="1300" dirty="0"/>
          </a:p>
          <a:p>
            <a:pPr indent="0" marL="0">
              <a:buNone/>
            </a:pPr>
            <a:r>
              <a:rPr lang="en-US" sz="1200" dirty="0">
                <a:solidFill>
                  <a:srgbClr val="FFFFFF"/>
                </a:solidFill>
                <a:latin typeface="Calibri" pitchFamily="34" charset="0"/>
                <a:ea typeface="Calibri" pitchFamily="34" charset="-122"/>
                <a:cs typeface="Calibri" pitchFamily="34" charset="-120"/>
              </a:rPr>
              <a:t>To extract net energy, you need a ratchet — something that lets energy flow one way easier than the other. Click-click-click forward, locked backward.</a:t>
            </a:r>
            <a:endParaRPr lang="en-US" sz="1300" dirty="0"/>
          </a:p>
          <a:p>
            <a:pPr indent="0" marL="0">
              <a:buNone/>
            </a:pPr>
            <a:endParaRPr lang="en-US" sz="1300" dirty="0"/>
          </a:p>
          <a:p>
            <a:pPr indent="0" marL="0">
              <a:buNone/>
            </a:pPr>
            <a:r>
              <a:rPr lang="en-US" sz="1400" b="1" dirty="0">
                <a:solidFill>
                  <a:srgbClr val="F97316"/>
                </a:solidFill>
                <a:latin typeface="Calibri" pitchFamily="34" charset="0"/>
                <a:ea typeface="Calibri" pitchFamily="34" charset="-122"/>
                <a:cs typeface="Calibri" pitchFamily="34" charset="-120"/>
              </a:rPr>
              <a:t>A magnetic field is that ratchet for electromagnetic energy.</a:t>
            </a:r>
            <a:endParaRPr lang="en-US" sz="1300" dirty="0"/>
          </a:p>
          <a:p>
            <a:pPr indent="0" marL="0">
              <a:buNone/>
            </a:pPr>
            <a:endParaRPr lang="en-US" sz="1300" dirty="0"/>
          </a:p>
          <a:p>
            <a:pPr indent="0" marL="0">
              <a:buNone/>
            </a:pPr>
            <a:r>
              <a:rPr lang="en-US" sz="1100" dirty="0">
                <a:solidFill>
                  <a:srgbClr val="9CA3AF"/>
                </a:solidFill>
                <a:latin typeface="Calibri" pitchFamily="34" charset="0"/>
                <a:ea typeface="Calibri" pitchFamily="34" charset="-122"/>
                <a:cs typeface="Calibri" pitchFamily="34" charset="-120"/>
              </a:rPr>
              <a:t>It breaks time-reversal symmetry — the physics inside a magnetic field is different depending on which direction things move. Charged particles curve one way in a magnetic field; reverse their motion and they curve the other way. This asymmetry means slightly more energy flows in one direction per cycle through the dielectric boundary.</a:t>
            </a:r>
            <a:endParaRPr lang="en-US" sz="1300" dirty="0"/>
          </a:p>
          <a:p>
            <a:pPr indent="0" marL="0">
              <a:buNone/>
            </a:pPr>
            <a:endParaRPr lang="en-US" sz="1300" dirty="0"/>
          </a:p>
          <a:p>
            <a:pPr indent="0" marL="0">
              <a:buNone/>
            </a:pPr>
            <a:r>
              <a:rPr lang="en-US" sz="1100" dirty="0">
                <a:solidFill>
                  <a:srgbClr val="D1D5DB"/>
                </a:solidFill>
                <a:latin typeface="Calibri" pitchFamily="34" charset="0"/>
                <a:ea typeface="Calibri" pitchFamily="34" charset="-122"/>
                <a:cs typeface="Calibri" pitchFamily="34" charset="-120"/>
              </a:rPr>
              <a:t>Why orient vertically? In our framework, gravity IS membrane curvature toward Waters Below. The gravitational direction is the perpendicular direction toward the energy reservoir. Aligning the magnets N→S along gravity maximizes coupling to the directional energy flow from the Waters.</a:t>
            </a:r>
            <a:endParaRPr lang="en-US" sz="1300" dirty="0"/>
          </a:p>
          <a:p>
            <a:pPr indent="0" marL="0">
              <a:buNone/>
            </a:pPr>
            <a:endParaRPr lang="en-US" sz="1300" dirty="0"/>
          </a:p>
          <a:p>
            <a:pPr indent="0" marL="0">
              <a:buNone/>
            </a:pPr>
            <a:r>
              <a:rPr lang="en-US" sz="1200" i="1" dirty="0">
                <a:solidFill>
                  <a:srgbClr val="F59E0B"/>
                </a:solidFill>
                <a:latin typeface="Calibri" pitchFamily="34" charset="0"/>
                <a:ea typeface="Calibri" pitchFamily="34" charset="-122"/>
                <a:cs typeface="Calibri" pitchFamily="34" charset="-120"/>
              </a:rPr>
              <a:t>Over billions of cycles per second, a tiny directional bias adds up to measurable power.</a:t>
            </a:r>
            <a:endParaRPr lang="en-US" sz="1300" dirty="0"/>
          </a:p>
        </p:txBody>
      </p:sp>
      <p:sp>
        <p:nvSpPr>
          <p:cNvPr id="7" name="Shape 5"/>
          <p:cNvSpPr/>
          <p:nvPr/>
        </p:nvSpPr>
        <p:spPr>
          <a:xfrm>
            <a:off x="0" y="4919472"/>
            <a:ext cx="9144000" cy="228600"/>
          </a:xfrm>
          <a:prstGeom prst="rect">
            <a:avLst/>
          </a:prstGeom>
          <a:solidFill>
            <a:srgbClr val="1C2333"/>
          </a:solidFill>
          <a:ln/>
        </p:spPr>
      </p:sp>
      <p:sp>
        <p:nvSpPr>
          <p:cNvPr id="8" name="Text 6"/>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0B981"/>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400" dirty="0">
                <a:solidFill>
                  <a:srgbClr val="10B981"/>
                </a:solidFill>
                <a:latin typeface="Georgia" pitchFamily="34" charset="0"/>
                <a:ea typeface="Georgia" pitchFamily="34" charset="-122"/>
                <a:cs typeface="Georgia" pitchFamily="34" charset="-120"/>
              </a:rPr>
              <a:t>COMPONENT 4: PIEZOELECTRIC HARVESTERS</a:t>
            </a:r>
            <a:endParaRPr lang="en-US" sz="24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Converting Vibrations to Electricity</a:t>
            </a:r>
            <a:endParaRPr lang="en-US" sz="1300" dirty="0"/>
          </a:p>
        </p:txBody>
      </p:sp>
      <p:sp>
        <p:nvSpPr>
          <p:cNvPr id="5" name="Shape 3"/>
          <p:cNvSpPr/>
          <p:nvPr/>
        </p:nvSpPr>
        <p:spPr>
          <a:xfrm>
            <a:off x="731520" y="1097280"/>
            <a:ext cx="4572000" cy="365760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Text 4"/>
          <p:cNvSpPr/>
          <p:nvPr/>
        </p:nvSpPr>
        <p:spPr>
          <a:xfrm>
            <a:off x="914400" y="1188720"/>
            <a:ext cx="4206240" cy="347472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Piezoelectric materials convert mechanical force into voltage.</a:t>
            </a:r>
            <a:endParaRPr lang="en-US" sz="1300" dirty="0"/>
          </a:p>
          <a:p>
            <a:pPr indent="0" marL="0">
              <a:buNone/>
            </a:pPr>
            <a:endParaRPr lang="en-US" sz="1300" dirty="0"/>
          </a:p>
          <a:p>
            <a:pPr indent="0" marL="0">
              <a:buNone/>
            </a:pPr>
            <a:r>
              <a:rPr lang="en-US" sz="1200" dirty="0">
                <a:solidFill>
                  <a:srgbClr val="D1D5DB"/>
                </a:solidFill>
                <a:latin typeface="Calibri" pitchFamily="34" charset="0"/>
                <a:ea typeface="Calibri" pitchFamily="34" charset="-122"/>
                <a:cs typeface="Calibri" pitchFamily="34" charset="-120"/>
              </a:rPr>
              <a:t>Press on them, they produce voltage. Apply voltage, they physically flex. This two-way conversion is proven technology — it's in every quartz watch, cigarette lighter, and ultrasonic cleaner.</a:t>
            </a:r>
            <a:endParaRPr lang="en-US" sz="1300" dirty="0"/>
          </a:p>
          <a:p>
            <a:pPr indent="0" marL="0">
              <a:buNone/>
            </a:pP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In our device, they do TWO jobs:</a:t>
            </a:r>
            <a:endParaRPr lang="en-US" sz="1300" dirty="0"/>
          </a:p>
          <a:p>
            <a:pPr indent="0" marL="0">
              <a:buNone/>
            </a:pPr>
            <a:endParaRPr lang="en-US" sz="1300" dirty="0"/>
          </a:p>
          <a:p>
            <a:pPr indent="0" marL="0">
              <a:buNone/>
            </a:pPr>
            <a:r>
              <a:rPr lang="en-US" sz="1100" dirty="0">
                <a:solidFill>
                  <a:srgbClr val="9CA3AF"/>
                </a:solidFill>
                <a:latin typeface="Calibri" pitchFamily="34" charset="0"/>
                <a:ea typeface="Calibri" pitchFamily="34" charset="-122"/>
                <a:cs typeface="Calibri" pitchFamily="34" charset="-120"/>
              </a:rPr>
              <a:t>Job 1 — DRIVE: Apply oscillating voltage at the cavity's resonant frequency. The piezo vibrates, shaking the cavity walls, pumping up the resonance. Like pushing a child on a swing — small pushes at the right timing build large oscillations.</a:t>
            </a:r>
            <a:endParaRPr lang="en-US" sz="1300" dirty="0"/>
          </a:p>
          <a:p>
            <a:pPr indent="0" marL="0">
              <a:buNone/>
            </a:pPr>
            <a:endParaRPr lang="en-US" sz="1300" dirty="0"/>
          </a:p>
          <a:p>
            <a:pPr indent="0" marL="0">
              <a:buNone/>
            </a:pPr>
            <a:r>
              <a:rPr lang="en-US" sz="1100" dirty="0">
                <a:solidFill>
                  <a:srgbClr val="9CA3AF"/>
                </a:solidFill>
                <a:latin typeface="Calibri" pitchFamily="34" charset="0"/>
                <a:ea typeface="Calibri" pitchFamily="34" charset="-122"/>
                <a:cs typeface="Calibri" pitchFamily="34" charset="-120"/>
              </a:rPr>
              <a:t>Job 2 — HARVEST: Net energy flowing through the dielectric boundary creates electromagnetic pressure on the walls. The piezos convert this into electrical signal.</a:t>
            </a:r>
            <a:endParaRPr lang="en-US" sz="1300" dirty="0"/>
          </a:p>
          <a:p>
            <a:pPr indent="0" marL="0">
              <a:buNone/>
            </a:pPr>
            <a:endParaRPr lang="en-US" sz="1300" dirty="0"/>
          </a:p>
          <a:p>
            <a:pPr indent="0" marL="0">
              <a:buNone/>
            </a:pPr>
            <a:r>
              <a:rPr lang="en-US" sz="1200" i="1" dirty="0">
                <a:solidFill>
                  <a:srgbClr val="10B981"/>
                </a:solidFill>
                <a:latin typeface="Calibri" pitchFamily="34" charset="0"/>
                <a:ea typeface="Calibri" pitchFamily="34" charset="-122"/>
                <a:cs typeface="Calibri" pitchFamily="34" charset="-120"/>
              </a:rPr>
              <a:t>The key test: does the energy harvested by the output piezos exceed the energy fed in by the drive piezos? If yes, the difference comes from the membrane.</a:t>
            </a:r>
            <a:endParaRPr lang="en-US" sz="1300" dirty="0"/>
          </a:p>
        </p:txBody>
      </p:sp>
      <p:sp>
        <p:nvSpPr>
          <p:cNvPr id="7" name="Shape 5"/>
          <p:cNvSpPr/>
          <p:nvPr/>
        </p:nvSpPr>
        <p:spPr>
          <a:xfrm>
            <a:off x="5577840" y="1097280"/>
            <a:ext cx="2834640" cy="365760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8" name="Text 6"/>
          <p:cNvSpPr/>
          <p:nvPr/>
        </p:nvSpPr>
        <p:spPr>
          <a:xfrm>
            <a:off x="5760720" y="1234440"/>
            <a:ext cx="2468880" cy="32004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The Energy Flow</a:t>
            </a:r>
            <a:endParaRPr lang="en-US" sz="1400" dirty="0"/>
          </a:p>
        </p:txBody>
      </p:sp>
      <p:sp>
        <p:nvSpPr>
          <p:cNvPr id="9" name="Text 7"/>
          <p:cNvSpPr/>
          <p:nvPr/>
        </p:nvSpPr>
        <p:spPr>
          <a:xfrm>
            <a:off x="5760720" y="1645920"/>
            <a:ext cx="2468880" cy="2926080"/>
          </a:xfrm>
          <a:prstGeom prst="rect">
            <a:avLst/>
          </a:prstGeom>
          <a:noFill/>
          <a:ln/>
        </p:spPr>
        <p:txBody>
          <a:bodyPr wrap="square" lIns="0" tIns="0" rIns="0" bIns="0" rtlCol="0" anchor="ctr"/>
          <a:lstStyle/>
          <a:p>
            <a:pPr algn="ctr" indent="0" marL="0">
              <a:spcAft>
                <a:spcPts val="200"/>
              </a:spcAft>
              <a:buNone/>
            </a:pPr>
            <a:r>
              <a:rPr lang="en-US" sz="1100" b="1" dirty="0">
                <a:solidFill>
                  <a:srgbClr val="06B6D4"/>
                </a:solidFill>
                <a:latin typeface="Calibri" pitchFamily="34" charset="0"/>
                <a:ea typeface="Calibri" pitchFamily="34" charset="-122"/>
                <a:cs typeface="Calibri" pitchFamily="34" charset="-120"/>
              </a:rPr>
              <a:t>Waters pressure sustains membrane vibrations</a:t>
            </a:r>
            <a:endParaRPr lang="en-US" sz="1100" dirty="0"/>
          </a:p>
          <a:p>
            <a:pPr algn="ctr" indent="0" marL="0">
              <a:spcAft>
                <a:spcPts val="200"/>
              </a:spcAft>
              <a:buNone/>
            </a:pPr>
            <a:r>
              <a:rPr lang="en-US" sz="1000" dirty="0">
                <a:solidFill>
                  <a:srgbClr val="6B7280"/>
                </a:solidFill>
                <a:latin typeface="Calibri" pitchFamily="34" charset="0"/>
                <a:ea typeface="Calibri" pitchFamily="34" charset="-122"/>
                <a:cs typeface="Calibri" pitchFamily="34" charset="-120"/>
              </a:rPr>
              <a:t>↓</a:t>
            </a:r>
            <a:endParaRPr lang="en-US" sz="1100" dirty="0"/>
          </a:p>
          <a:p>
            <a:pPr algn="ctr" indent="0" marL="0">
              <a:spcAft>
                <a:spcPts val="200"/>
              </a:spcAft>
              <a:buNone/>
            </a:pPr>
            <a:r>
              <a:rPr lang="en-US" sz="1100" b="1" dirty="0">
                <a:solidFill>
                  <a:srgbClr val="F59E0B"/>
                </a:solidFill>
                <a:latin typeface="Calibri" pitchFamily="34" charset="0"/>
                <a:ea typeface="Calibri" pitchFamily="34" charset="-122"/>
                <a:cs typeface="Calibri" pitchFamily="34" charset="-120"/>
              </a:rPr>
              <a:t>Cavity selects specific vibration modes</a:t>
            </a:r>
            <a:endParaRPr lang="en-US" sz="1100" dirty="0"/>
          </a:p>
          <a:p>
            <a:pPr algn="ctr" indent="0" marL="0">
              <a:spcAft>
                <a:spcPts val="200"/>
              </a:spcAft>
              <a:buNone/>
            </a:pPr>
            <a:r>
              <a:rPr lang="en-US" sz="1000" dirty="0">
                <a:solidFill>
                  <a:srgbClr val="6B7280"/>
                </a:solidFill>
                <a:latin typeface="Calibri" pitchFamily="34" charset="0"/>
                <a:ea typeface="Calibri" pitchFamily="34" charset="-122"/>
                <a:cs typeface="Calibri" pitchFamily="34" charset="-120"/>
              </a:rPr>
              <a:t>↓</a:t>
            </a:r>
            <a:endParaRPr lang="en-US" sz="1100" dirty="0"/>
          </a:p>
          <a:p>
            <a:pPr algn="ctr" indent="0" marL="0">
              <a:spcAft>
                <a:spcPts val="200"/>
              </a:spcAft>
              <a:buNone/>
            </a:pPr>
            <a:r>
              <a:rPr lang="en-US" sz="1100" b="1" dirty="0">
                <a:solidFill>
                  <a:srgbClr val="F97316"/>
                </a:solidFill>
                <a:latin typeface="Calibri" pitchFamily="34" charset="0"/>
                <a:ea typeface="Calibri" pitchFamily="34" charset="-122"/>
                <a:cs typeface="Calibri" pitchFamily="34" charset="-120"/>
              </a:rPr>
              <a:t>Dielectric boundary creates energy gradient</a:t>
            </a:r>
            <a:endParaRPr lang="en-US" sz="1100" dirty="0"/>
          </a:p>
          <a:p>
            <a:pPr algn="ctr" indent="0" marL="0">
              <a:spcAft>
                <a:spcPts val="200"/>
              </a:spcAft>
              <a:buNone/>
            </a:pPr>
            <a:r>
              <a:rPr lang="en-US" sz="1000" dirty="0">
                <a:solidFill>
                  <a:srgbClr val="6B7280"/>
                </a:solidFill>
                <a:latin typeface="Calibri" pitchFamily="34" charset="0"/>
                <a:ea typeface="Calibri" pitchFamily="34" charset="-122"/>
                <a:cs typeface="Calibri" pitchFamily="34" charset="-120"/>
              </a:rPr>
              <a:t>↓</a:t>
            </a:r>
            <a:endParaRPr lang="en-US" sz="1100" dirty="0"/>
          </a:p>
          <a:p>
            <a:pPr algn="ctr" indent="0" marL="0">
              <a:spcAft>
                <a:spcPts val="200"/>
              </a:spcAft>
              <a:buNone/>
            </a:pPr>
            <a:r>
              <a:rPr lang="en-US" sz="1100" b="1" dirty="0">
                <a:solidFill>
                  <a:srgbClr val="8B5CF6"/>
                </a:solidFill>
                <a:latin typeface="Calibri" pitchFamily="34" charset="0"/>
                <a:ea typeface="Calibri" pitchFamily="34" charset="-122"/>
                <a:cs typeface="Calibri" pitchFamily="34" charset="-120"/>
              </a:rPr>
              <a:t>Magnets bias flow in one direction</a:t>
            </a:r>
            <a:endParaRPr lang="en-US" sz="1100" dirty="0"/>
          </a:p>
          <a:p>
            <a:pPr algn="ctr" indent="0" marL="0">
              <a:spcAft>
                <a:spcPts val="200"/>
              </a:spcAft>
              <a:buNone/>
            </a:pPr>
            <a:r>
              <a:rPr lang="en-US" sz="1000" dirty="0">
                <a:solidFill>
                  <a:srgbClr val="6B7280"/>
                </a:solidFill>
                <a:latin typeface="Calibri" pitchFamily="34" charset="0"/>
                <a:ea typeface="Calibri" pitchFamily="34" charset="-122"/>
                <a:cs typeface="Calibri" pitchFamily="34" charset="-120"/>
              </a:rPr>
              <a:t>↓</a:t>
            </a:r>
            <a:endParaRPr lang="en-US" sz="1100" dirty="0"/>
          </a:p>
          <a:p>
            <a:pPr algn="ctr" indent="0" marL="0">
              <a:spcAft>
                <a:spcPts val="200"/>
              </a:spcAft>
              <a:buNone/>
            </a:pPr>
            <a:r>
              <a:rPr lang="en-US" sz="1100" b="1" dirty="0">
                <a:solidFill>
                  <a:srgbClr val="10B981"/>
                </a:solidFill>
                <a:latin typeface="Calibri" pitchFamily="34" charset="0"/>
                <a:ea typeface="Calibri" pitchFamily="34" charset="-122"/>
                <a:cs typeface="Calibri" pitchFamily="34" charset="-120"/>
              </a:rPr>
              <a:t>Piezo converts to AC electricity</a:t>
            </a:r>
            <a:endParaRPr lang="en-US" sz="1100" dirty="0"/>
          </a:p>
          <a:p>
            <a:pPr algn="ctr" indent="0" marL="0">
              <a:spcAft>
                <a:spcPts val="200"/>
              </a:spcAft>
              <a:buNone/>
            </a:pPr>
            <a:r>
              <a:rPr lang="en-US" sz="1000" dirty="0">
                <a:solidFill>
                  <a:srgbClr val="6B7280"/>
                </a:solidFill>
                <a:latin typeface="Calibri" pitchFamily="34" charset="0"/>
                <a:ea typeface="Calibri" pitchFamily="34" charset="-122"/>
                <a:cs typeface="Calibri" pitchFamily="34" charset="-120"/>
              </a:rPr>
              <a:t>↓</a:t>
            </a:r>
            <a:endParaRPr lang="en-US" sz="1100" dirty="0"/>
          </a:p>
          <a:p>
            <a:pPr algn="ctr" indent="0" marL="0">
              <a:spcAft>
                <a:spcPts val="200"/>
              </a:spcAft>
              <a:buNone/>
            </a:pPr>
            <a:r>
              <a:rPr lang="en-US" sz="1100" b="1" dirty="0">
                <a:solidFill>
                  <a:srgbClr val="FFFFFF"/>
                </a:solidFill>
                <a:latin typeface="Calibri" pitchFamily="34" charset="0"/>
                <a:ea typeface="Calibri" pitchFamily="34" charset="-122"/>
                <a:cs typeface="Calibri" pitchFamily="34" charset="-120"/>
              </a:rPr>
              <a:t>Rectifier converts to DC output</a:t>
            </a:r>
            <a:endParaRPr lang="en-US" sz="1100" dirty="0"/>
          </a:p>
        </p:txBody>
      </p:sp>
      <p:sp>
        <p:nvSpPr>
          <p:cNvPr id="10" name="Shape 8"/>
          <p:cNvSpPr/>
          <p:nvPr/>
        </p:nvSpPr>
        <p:spPr>
          <a:xfrm>
            <a:off x="0" y="4919472"/>
            <a:ext cx="9144000" cy="228600"/>
          </a:xfrm>
          <a:prstGeom prst="rect">
            <a:avLst/>
          </a:prstGeom>
          <a:solidFill>
            <a:srgbClr val="1C2333"/>
          </a:solidFill>
          <a:ln/>
        </p:spPr>
      </p:sp>
      <p:sp>
        <p:nvSpPr>
          <p:cNvPr id="11" name="Text 9"/>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97316"/>
          </a:solidFill>
          <a:ln/>
        </p:spPr>
      </p:sp>
      <p:pic>
        <p:nvPicPr>
          <p:cNvPr id="3" name="Image 0" descr="preencoded.png">    </p:cNvPr>
          <p:cNvPicPr>
            <a:picLocks noChangeAspect="1"/>
          </p:cNvPicPr>
          <p:nvPr/>
        </p:nvPicPr>
        <p:blipFill>
          <a:blip r:embed="rId1"/>
          <a:stretch>
            <a:fillRect/>
          </a:stretch>
        </p:blipFill>
        <p:spPr>
          <a:xfrm>
            <a:off x="731520" y="182880"/>
            <a:ext cx="411480" cy="411480"/>
          </a:xfrm>
          <a:prstGeom prst="rect">
            <a:avLst/>
          </a:prstGeom>
        </p:spPr>
      </p:pic>
      <p:sp>
        <p:nvSpPr>
          <p:cNvPr id="4" name="Text 1"/>
          <p:cNvSpPr/>
          <p:nvPr/>
        </p:nvSpPr>
        <p:spPr>
          <a:xfrm>
            <a:off x="1280160" y="182880"/>
            <a:ext cx="7132320" cy="502920"/>
          </a:xfrm>
          <a:prstGeom prst="rect">
            <a:avLst/>
          </a:prstGeom>
          <a:noFill/>
          <a:ln/>
        </p:spPr>
        <p:txBody>
          <a:bodyPr wrap="square" lIns="0" tIns="0" rIns="0" bIns="0" rtlCol="0" anchor="ctr"/>
          <a:lstStyle/>
          <a:p>
            <a:pPr indent="0" marL="0">
              <a:buNone/>
            </a:pPr>
            <a:r>
              <a:rPr lang="en-US" sz="2200" dirty="0">
                <a:solidFill>
                  <a:srgbClr val="F97316"/>
                </a:solidFill>
                <a:latin typeface="Georgia" pitchFamily="34" charset="0"/>
                <a:ea typeface="Georgia" pitchFamily="34" charset="-122"/>
                <a:cs typeface="Georgia" pitchFamily="34" charset="-120"/>
              </a:rPr>
              <a:t>"IF THIS WORKED, SOMEONE WOULD HAVE DONE IT"</a:t>
            </a:r>
            <a:endParaRPr lang="en-US" sz="2200" dirty="0"/>
          </a:p>
        </p:txBody>
      </p:sp>
      <p:sp>
        <p:nvSpPr>
          <p:cNvPr id="5" name="Shape 2"/>
          <p:cNvSpPr/>
          <p:nvPr/>
        </p:nvSpPr>
        <p:spPr>
          <a:xfrm>
            <a:off x="731520" y="868680"/>
            <a:ext cx="7680960" cy="384048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Text 3"/>
          <p:cNvSpPr/>
          <p:nvPr/>
        </p:nvSpPr>
        <p:spPr>
          <a:xfrm>
            <a:off x="1005840" y="960120"/>
            <a:ext cx="7132320" cy="3657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This is the strongest objection. Here's the honest answer:</a:t>
            </a:r>
            <a:endParaRPr lang="en-US" sz="1300" dirty="0"/>
          </a:p>
          <a:p>
            <a:pPr indent="0" marL="0">
              <a:buNone/>
            </a:pPr>
            <a:endParaRPr lang="en-US" sz="1300" dirty="0"/>
          </a:p>
          <a:p>
            <a:pPr indent="0" marL="0">
              <a:buNone/>
            </a:pPr>
            <a:r>
              <a:rPr lang="en-US" sz="1200" b="1" dirty="0">
                <a:solidFill>
                  <a:srgbClr val="F59E0B"/>
                </a:solidFill>
                <a:latin typeface="Calibri" pitchFamily="34" charset="0"/>
                <a:ea typeface="Calibri" pitchFamily="34" charset="-122"/>
                <a:cs typeface="Calibri" pitchFamily="34" charset="-120"/>
              </a:rPr>
              <a:t>1. People HAVE tried, and results are ambiguous. </a:t>
            </a:r>
            <a:pPr indent="0" marL="0">
              <a:buNone/>
            </a:pPr>
            <a:r>
              <a:rPr lang="en-US" sz="1100" dirty="0">
                <a:solidFill>
                  <a:srgbClr val="9CA3AF"/>
                </a:solidFill>
                <a:latin typeface="Calibri" pitchFamily="34" charset="0"/>
                <a:ea typeface="Calibri" pitchFamily="34" charset="-122"/>
                <a:cs typeface="Calibri" pitchFamily="34" charset="-120"/>
              </a:rPr>
              <a:t>DARPA funded Casimir enhancement research in the mid-2000s. Several groups have explored vacuum energy harvesting. Results are typically inconclusive — small signals at the edge of detector sensitivity, hard to separate from noise. Not definitively failed, just unresolved.</a:t>
            </a:r>
            <a:endParaRPr lang="en-US" sz="1300" dirty="0"/>
          </a:p>
          <a:p>
            <a:pPr indent="0" marL="0">
              <a:buNone/>
            </a:pPr>
            <a:endParaRPr lang="en-US" sz="1300" dirty="0"/>
          </a:p>
          <a:p>
            <a:pPr indent="0" marL="0">
              <a:buNone/>
            </a:pPr>
            <a:r>
              <a:rPr lang="en-US" sz="1200" b="1" dirty="0">
                <a:solidFill>
                  <a:srgbClr val="F59E0B"/>
                </a:solidFill>
                <a:latin typeface="Calibri" pitchFamily="34" charset="0"/>
                <a:ea typeface="Calibri" pitchFamily="34" charset="-122"/>
                <a:cs typeface="Calibri" pitchFamily="34" charset="-120"/>
              </a:rPr>
              <a:t>2. Theory shapes what gets tested. </a:t>
            </a:r>
            <a:pPr indent="0" marL="0">
              <a:buNone/>
            </a:pPr>
            <a:r>
              <a:rPr lang="en-US" sz="1100" dirty="0">
                <a:solidFill>
                  <a:srgbClr val="9CA3AF"/>
                </a:solidFill>
                <a:latin typeface="Calibri" pitchFamily="34" charset="0"/>
                <a:ea typeface="Calibri" pitchFamily="34" charset="-122"/>
                <a:cs typeface="Calibri" pitchFamily="34" charset="-120"/>
              </a:rPr>
              <a:t>If mainstream theory says it's impossible, the experiment doesn't get funded or run. Not because it failed — because nobody tried. Our framework motivates a specific design (magnetic bias + gravitational alignment) that standard physics wouldn't suggest.</a:t>
            </a:r>
            <a:endParaRPr lang="en-US" sz="1300" dirty="0"/>
          </a:p>
          <a:p>
            <a:pPr indent="0" marL="0">
              <a:buNone/>
            </a:pPr>
            <a:endParaRPr lang="en-US" sz="1300" dirty="0"/>
          </a:p>
          <a:p>
            <a:pPr indent="0" marL="0">
              <a:buNone/>
            </a:pPr>
            <a:r>
              <a:rPr lang="en-US" sz="1200" b="1" dirty="0">
                <a:solidFill>
                  <a:srgbClr val="F59E0B"/>
                </a:solidFill>
                <a:latin typeface="Calibri" pitchFamily="34" charset="0"/>
                <a:ea typeface="Calibri" pitchFamily="34" charset="-122"/>
                <a:cs typeface="Calibri" pitchFamily="34" charset="-120"/>
              </a:rPr>
              <a:t>3. Historical precedent. </a:t>
            </a:r>
            <a:pPr indent="0" marL="0">
              <a:buNone/>
            </a:pPr>
            <a:r>
              <a:rPr lang="en-US" sz="1100" dirty="0">
                <a:solidFill>
                  <a:srgbClr val="9CA3AF"/>
                </a:solidFill>
                <a:latin typeface="Calibri" pitchFamily="34" charset="0"/>
                <a:ea typeface="Calibri" pitchFamily="34" charset="-122"/>
                <a:cs typeface="Calibri" pitchFamily="34" charset="-120"/>
              </a:rPr>
              <a:t>Electromagnetic induction (1831) — magnets and wire existed for centuries, but nobody thought to move one near the other until Faraday had the right theory. Semiconductors — silicon was handled for centuries before quantum mechanics revealed its potential. The materials were always cheap and available. The missing ingredient was the idea.</a:t>
            </a:r>
            <a:endParaRPr lang="en-US" sz="1300" dirty="0"/>
          </a:p>
          <a:p>
            <a:pPr indent="0" marL="0">
              <a:buNone/>
            </a:pPr>
            <a:endParaRPr lang="en-US" sz="1300" dirty="0"/>
          </a:p>
          <a:p>
            <a:pPr indent="0" marL="0">
              <a:buNone/>
            </a:pPr>
            <a:r>
              <a:rPr lang="en-US" sz="1200" b="1" dirty="0">
                <a:solidFill>
                  <a:srgbClr val="F97316"/>
                </a:solidFill>
                <a:latin typeface="Calibri" pitchFamily="34" charset="0"/>
                <a:ea typeface="Calibri" pitchFamily="34" charset="-122"/>
                <a:cs typeface="Calibri" pitchFamily="34" charset="-120"/>
              </a:rPr>
              <a:t>4. The honest truth: it might not work. </a:t>
            </a:r>
            <a:pPr indent="0" marL="0">
              <a:buNone/>
            </a:pPr>
            <a:r>
              <a:rPr lang="en-US" sz="1100" dirty="0">
                <a:solidFill>
                  <a:srgbClr val="D1D5DB"/>
                </a:solidFill>
                <a:latin typeface="Calibri" pitchFamily="34" charset="0"/>
                <a:ea typeface="Calibri" pitchFamily="34" charset="-122"/>
                <a:cs typeface="Calibri" pitchFamily="34" charset="-120"/>
              </a:rPr>
              <a:t>But the test is cheap ($100-200), the physics is grounded in real measured effects (Casimir, dynamic Casimir), and the theoretical motivation is specific enough to produce testable predictions. Science requires testing, not just theorizing.</a:t>
            </a:r>
            <a:endParaRPr lang="en-US" sz="1300" dirty="0"/>
          </a:p>
        </p:txBody>
      </p:sp>
      <p:sp>
        <p:nvSpPr>
          <p:cNvPr id="7" name="Shape 4"/>
          <p:cNvSpPr/>
          <p:nvPr/>
        </p:nvSpPr>
        <p:spPr>
          <a:xfrm>
            <a:off x="0" y="4919472"/>
            <a:ext cx="9144000" cy="228600"/>
          </a:xfrm>
          <a:prstGeom prst="rect">
            <a:avLst/>
          </a:prstGeom>
          <a:solidFill>
            <a:srgbClr val="1C2333"/>
          </a:solidFill>
          <a:ln/>
        </p:spPr>
      </p:sp>
      <p:sp>
        <p:nvSpPr>
          <p:cNvPr id="8" name="Text 5"/>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59E0B"/>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600" dirty="0">
                <a:solidFill>
                  <a:srgbClr val="F59E0B"/>
                </a:solidFill>
                <a:latin typeface="Georgia" pitchFamily="34" charset="0"/>
                <a:ea typeface="Georgia" pitchFamily="34" charset="-122"/>
                <a:cs typeface="Georgia" pitchFamily="34" charset="-120"/>
              </a:rPr>
              <a:t>HONEST EXPECTATIONS</a:t>
            </a:r>
            <a:endParaRPr lang="en-US" sz="26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What a First Prototype Will Realistically Produce</a:t>
            </a:r>
            <a:endParaRPr lang="en-US" sz="1300" dirty="0"/>
          </a:p>
        </p:txBody>
      </p:sp>
      <p:sp>
        <p:nvSpPr>
          <p:cNvPr id="5" name="Shape 3"/>
          <p:cNvSpPr/>
          <p:nvPr/>
        </p:nvSpPr>
        <p:spPr>
          <a:xfrm>
            <a:off x="731520" y="1097280"/>
            <a:ext cx="3657600" cy="182880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Shape 4"/>
          <p:cNvSpPr/>
          <p:nvPr/>
        </p:nvSpPr>
        <p:spPr>
          <a:xfrm>
            <a:off x="731520" y="1097280"/>
            <a:ext cx="54864" cy="1828800"/>
          </a:xfrm>
          <a:prstGeom prst="rect">
            <a:avLst/>
          </a:prstGeom>
          <a:solidFill>
            <a:srgbClr val="F59E0B"/>
          </a:solidFill>
          <a:ln/>
        </p:spPr>
      </p:sp>
      <p:sp>
        <p:nvSpPr>
          <p:cNvPr id="7" name="Text 5"/>
          <p:cNvSpPr/>
          <p:nvPr/>
        </p:nvSpPr>
        <p:spPr>
          <a:xfrm>
            <a:off x="1005840" y="1188720"/>
            <a:ext cx="3200400" cy="32004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Prototype 1 Output</a:t>
            </a:r>
            <a:endParaRPr lang="en-US" sz="1400" dirty="0"/>
          </a:p>
        </p:txBody>
      </p:sp>
      <p:sp>
        <p:nvSpPr>
          <p:cNvPr id="8" name="Text 6"/>
          <p:cNvSpPr/>
          <p:nvPr/>
        </p:nvSpPr>
        <p:spPr>
          <a:xfrm>
            <a:off x="1005840" y="1554480"/>
            <a:ext cx="3200400" cy="457200"/>
          </a:xfrm>
          <a:prstGeom prst="rect">
            <a:avLst/>
          </a:prstGeom>
          <a:noFill/>
          <a:ln/>
        </p:spPr>
        <p:txBody>
          <a:bodyPr wrap="square" lIns="0" tIns="0" rIns="0" bIns="0" rtlCol="0" anchor="ctr"/>
          <a:lstStyle/>
          <a:p>
            <a:pPr indent="0" marL="0">
              <a:buNone/>
            </a:pPr>
            <a:r>
              <a:rPr lang="en-US" sz="2800" dirty="0">
                <a:solidFill>
                  <a:srgbClr val="FFFFFF"/>
                </a:solidFill>
                <a:latin typeface="Georgia" pitchFamily="34" charset="0"/>
                <a:ea typeface="Georgia" pitchFamily="34" charset="-122"/>
                <a:cs typeface="Georgia" pitchFamily="34" charset="-120"/>
              </a:rPr>
              <a:t>Microwatts</a:t>
            </a:r>
            <a:endParaRPr lang="en-US" sz="2800" dirty="0"/>
          </a:p>
        </p:txBody>
      </p:sp>
      <p:sp>
        <p:nvSpPr>
          <p:cNvPr id="9" name="Text 7"/>
          <p:cNvSpPr/>
          <p:nvPr/>
        </p:nvSpPr>
        <p:spPr>
          <a:xfrm>
            <a:off x="1005840" y="2011680"/>
            <a:ext cx="3200400" cy="73152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Maybe tens of microwatts. Possibly nanowatts. A signal barely above thermal noise. NOT laptop power — not yet.</a:t>
            </a:r>
            <a:endParaRPr lang="en-US" sz="1100" dirty="0"/>
          </a:p>
        </p:txBody>
      </p:sp>
      <p:sp>
        <p:nvSpPr>
          <p:cNvPr id="10" name="Shape 8"/>
          <p:cNvSpPr/>
          <p:nvPr/>
        </p:nvSpPr>
        <p:spPr>
          <a:xfrm>
            <a:off x="4754880" y="1097280"/>
            <a:ext cx="3657600" cy="182880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11" name="Shape 9"/>
          <p:cNvSpPr/>
          <p:nvPr/>
        </p:nvSpPr>
        <p:spPr>
          <a:xfrm>
            <a:off x="4754880" y="1097280"/>
            <a:ext cx="54864" cy="1828800"/>
          </a:xfrm>
          <a:prstGeom prst="rect">
            <a:avLst/>
          </a:prstGeom>
          <a:solidFill>
            <a:srgbClr val="F97316"/>
          </a:solidFill>
          <a:ln/>
        </p:spPr>
      </p:sp>
      <p:sp>
        <p:nvSpPr>
          <p:cNvPr id="12" name="Text 10"/>
          <p:cNvSpPr/>
          <p:nvPr/>
        </p:nvSpPr>
        <p:spPr>
          <a:xfrm>
            <a:off x="5029200" y="1188720"/>
            <a:ext cx="3200400" cy="320040"/>
          </a:xfrm>
          <a:prstGeom prst="rect">
            <a:avLst/>
          </a:prstGeom>
          <a:noFill/>
          <a:ln/>
        </p:spPr>
        <p:txBody>
          <a:bodyPr wrap="square" lIns="0" tIns="0" rIns="0" bIns="0"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Why So Low?</a:t>
            </a:r>
            <a:endParaRPr lang="en-US" sz="1400" dirty="0"/>
          </a:p>
        </p:txBody>
      </p:sp>
      <p:sp>
        <p:nvSpPr>
          <p:cNvPr id="13" name="Text 11"/>
          <p:cNvSpPr/>
          <p:nvPr/>
        </p:nvSpPr>
        <p:spPr>
          <a:xfrm>
            <a:off x="5029200" y="1554480"/>
            <a:ext cx="3200400" cy="118872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9CA3AF"/>
                </a:solidFill>
                <a:latin typeface="Calibri" pitchFamily="34" charset="0"/>
                <a:ea typeface="Calibri" pitchFamily="34" charset="-122"/>
                <a:cs typeface="Calibri" pitchFamily="34" charset="-120"/>
              </a:rPr>
              <a:t>Casimir force strongest at nano-scale gaps</a:t>
            </a:r>
            <a:endParaRPr lang="en-US" sz="1100" dirty="0"/>
          </a:p>
          <a:p>
            <a:pPr marL="342900" indent="-342900">
              <a:spcAft>
                <a:spcPts val="300"/>
              </a:spcAft>
              <a:buSzPct val="100000"/>
              <a:buChar char="•"/>
            </a:pPr>
            <a:r>
              <a:rPr lang="en-US" sz="1100" dirty="0">
                <a:solidFill>
                  <a:srgbClr val="9CA3AF"/>
                </a:solidFill>
                <a:latin typeface="Calibri" pitchFamily="34" charset="0"/>
                <a:ea typeface="Calibri" pitchFamily="34" charset="-122"/>
                <a:cs typeface="Calibri" pitchFamily="34" charset="-120"/>
              </a:rPr>
              <a:t>Affordable copper cavity Q ~1,000-10,000</a:t>
            </a:r>
            <a:endParaRPr lang="en-US" sz="1100" dirty="0"/>
          </a:p>
          <a:p>
            <a:pPr marL="342900" indent="-342900">
              <a:spcAft>
                <a:spcPts val="300"/>
              </a:spcAft>
              <a:buSzPct val="100000"/>
              <a:buChar char="•"/>
            </a:pPr>
            <a:r>
              <a:rPr lang="en-US" sz="1100" dirty="0">
                <a:solidFill>
                  <a:srgbClr val="9CA3AF"/>
                </a:solidFill>
                <a:latin typeface="Calibri" pitchFamily="34" charset="0"/>
                <a:ea typeface="Calibri" pitchFamily="34" charset="-122"/>
                <a:cs typeface="Calibri" pitchFamily="34" charset="-120"/>
              </a:rPr>
              <a:t>Piezo coupling efficiency ~30-60%</a:t>
            </a:r>
            <a:endParaRPr lang="en-US" sz="1100" dirty="0"/>
          </a:p>
          <a:p>
            <a:pPr marL="342900" indent="-342900">
              <a:spcAft>
                <a:spcPts val="300"/>
              </a:spcAft>
              <a:buSzPct val="100000"/>
              <a:buChar char="•"/>
            </a:pPr>
            <a:r>
              <a:rPr lang="en-US" sz="1100" dirty="0">
                <a:solidFill>
                  <a:srgbClr val="9CA3AF"/>
                </a:solidFill>
                <a:latin typeface="Calibri" pitchFamily="34" charset="0"/>
                <a:ea typeface="Calibri" pitchFamily="34" charset="-122"/>
                <a:cs typeface="Calibri" pitchFamily="34" charset="-120"/>
              </a:rPr>
              <a:t>Magnetic asymmetry is small per cycle</a:t>
            </a:r>
            <a:endParaRPr lang="en-US" sz="1100" dirty="0"/>
          </a:p>
          <a:p>
            <a:pPr marL="342900" indent="-342900">
              <a:spcAft>
                <a:spcPts val="300"/>
              </a:spcAft>
              <a:buSzPct val="100000"/>
              <a:buChar char="•"/>
            </a:pPr>
            <a:r>
              <a:rPr lang="en-US" sz="1100" dirty="0">
                <a:solidFill>
                  <a:srgbClr val="9CA3AF"/>
                </a:solidFill>
                <a:latin typeface="Calibri" pitchFamily="34" charset="0"/>
                <a:ea typeface="Calibri" pitchFamily="34" charset="-122"/>
                <a:cs typeface="Calibri" pitchFamily="34" charset="-120"/>
              </a:rPr>
              <a:t>Room-temp thermal noise competes</a:t>
            </a:r>
            <a:endParaRPr lang="en-US" sz="1100" dirty="0"/>
          </a:p>
        </p:txBody>
      </p:sp>
      <p:sp>
        <p:nvSpPr>
          <p:cNvPr id="14" name="Shape 12"/>
          <p:cNvSpPr/>
          <p:nvPr/>
        </p:nvSpPr>
        <p:spPr>
          <a:xfrm>
            <a:off x="731520" y="3200400"/>
            <a:ext cx="7680960" cy="1554480"/>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15" name="Text 13"/>
          <p:cNvSpPr/>
          <p:nvPr/>
        </p:nvSpPr>
        <p:spPr>
          <a:xfrm>
            <a:off x="1005840" y="3291840"/>
            <a:ext cx="7132320" cy="365760"/>
          </a:xfrm>
          <a:prstGeom prst="rect">
            <a:avLst/>
          </a:prstGeom>
          <a:noFill/>
          <a:ln/>
        </p:spPr>
        <p:txBody>
          <a:bodyPr wrap="square" lIns="0" tIns="0" rIns="0" bIns="0" rtlCol="0" anchor="ctr"/>
          <a:lstStyle/>
          <a:p>
            <a:pPr indent="0" marL="0">
              <a:buNone/>
            </a:pPr>
            <a:r>
              <a:rPr lang="en-US" sz="1500" b="1" dirty="0">
                <a:solidFill>
                  <a:srgbClr val="10B981"/>
                </a:solidFill>
                <a:latin typeface="Georgia" pitchFamily="34" charset="0"/>
                <a:ea typeface="Georgia" pitchFamily="34" charset="-122"/>
                <a:cs typeface="Georgia" pitchFamily="34" charset="-120"/>
              </a:rPr>
              <a:t>What SUCCESS Looks Like for Prototype 1</a:t>
            </a:r>
            <a:endParaRPr lang="en-US" sz="1500" dirty="0"/>
          </a:p>
        </p:txBody>
      </p:sp>
      <p:sp>
        <p:nvSpPr>
          <p:cNvPr id="16" name="Text 14"/>
          <p:cNvSpPr/>
          <p:nvPr/>
        </p:nvSpPr>
        <p:spPr>
          <a:xfrm>
            <a:off x="1005840" y="3703320"/>
            <a:ext cx="7132320" cy="9144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Not powering a laptop. Success is detecting ANY anomalous energy output that exceeds what standard physics predicts.</a:t>
            </a:r>
            <a:endParaRPr lang="en-US" sz="1200" dirty="0"/>
          </a:p>
          <a:p>
            <a:pPr indent="0" marL="0">
              <a:buNone/>
            </a:pPr>
            <a:endParaRPr lang="en-US" sz="1200" dirty="0"/>
          </a:p>
          <a:p>
            <a:pPr indent="0" marL="0">
              <a:buNone/>
            </a:pPr>
            <a:r>
              <a:rPr lang="en-US" sz="1100" dirty="0">
                <a:solidFill>
                  <a:srgbClr val="D1D5DB"/>
                </a:solidFill>
                <a:latin typeface="Calibri" pitchFamily="34" charset="0"/>
                <a:ea typeface="Calibri" pitchFamily="34" charset="-122"/>
                <a:cs typeface="Calibri" pitchFamily="34" charset="-120"/>
              </a:rPr>
              <a:t>Drive the cavity at resonance, measure output. If output energy consistently exceeds input energy (after subtracting all known losses), that's a breakthrough. Even microwatts of unexplained excess would be a discovery. Solar cells started at microwatts in 1954. The principle matters more than the power level.</a:t>
            </a:r>
            <a:endParaRPr lang="en-US" sz="1200" dirty="0"/>
          </a:p>
        </p:txBody>
      </p:sp>
      <p:sp>
        <p:nvSpPr>
          <p:cNvPr id="17" name="Shape 15"/>
          <p:cNvSpPr/>
          <p:nvPr/>
        </p:nvSpPr>
        <p:spPr>
          <a:xfrm>
            <a:off x="0" y="4919472"/>
            <a:ext cx="9144000" cy="228600"/>
          </a:xfrm>
          <a:prstGeom prst="rect">
            <a:avLst/>
          </a:prstGeom>
          <a:solidFill>
            <a:srgbClr val="1C2333"/>
          </a:solidFill>
          <a:ln/>
        </p:spPr>
      </p:sp>
      <p:sp>
        <p:nvSpPr>
          <p:cNvPr id="18" name="Text 16"/>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3B82F6"/>
          </a:solidFill>
          <a:ln/>
        </p:spPr>
      </p:sp>
      <p:sp>
        <p:nvSpPr>
          <p:cNvPr id="3" name="Text 1"/>
          <p:cNvSpPr/>
          <p:nvPr/>
        </p:nvSpPr>
        <p:spPr>
          <a:xfrm>
            <a:off x="731520" y="228600"/>
            <a:ext cx="7680960" cy="502920"/>
          </a:xfrm>
          <a:prstGeom prst="rect">
            <a:avLst/>
          </a:prstGeom>
          <a:noFill/>
          <a:ln/>
        </p:spPr>
        <p:txBody>
          <a:bodyPr wrap="square" lIns="0" tIns="0" rIns="0" bIns="0" rtlCol="0" anchor="ctr"/>
          <a:lstStyle/>
          <a:p>
            <a:pPr indent="0" marL="0">
              <a:buNone/>
            </a:pPr>
            <a:r>
              <a:rPr lang="en-US" sz="2600" dirty="0">
                <a:solidFill>
                  <a:srgbClr val="3B82F6"/>
                </a:solidFill>
                <a:latin typeface="Georgia" pitchFamily="34" charset="0"/>
                <a:ea typeface="Georgia" pitchFamily="34" charset="-122"/>
                <a:cs typeface="Georgia" pitchFamily="34" charset="-120"/>
              </a:rPr>
              <a:t>THE FIVE TESTS</a:t>
            </a:r>
            <a:endParaRPr lang="en-US" sz="2600" dirty="0"/>
          </a:p>
        </p:txBody>
      </p:sp>
      <p:sp>
        <p:nvSpPr>
          <p:cNvPr id="4" name="Text 2"/>
          <p:cNvSpPr/>
          <p:nvPr/>
        </p:nvSpPr>
        <p:spPr>
          <a:xfrm>
            <a:off x="731520" y="685800"/>
            <a:ext cx="731520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What Would Prove the Theory Right — or Wrong</a:t>
            </a:r>
            <a:endParaRPr lang="en-US" sz="1300" dirty="0"/>
          </a:p>
        </p:txBody>
      </p:sp>
      <p:sp>
        <p:nvSpPr>
          <p:cNvPr id="5" name="Shape 3"/>
          <p:cNvSpPr/>
          <p:nvPr/>
        </p:nvSpPr>
        <p:spPr>
          <a:xfrm>
            <a:off x="731520" y="1051560"/>
            <a:ext cx="7680960" cy="658368"/>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6" name="Shape 4"/>
          <p:cNvSpPr/>
          <p:nvPr/>
        </p:nvSpPr>
        <p:spPr>
          <a:xfrm>
            <a:off x="731520" y="1051560"/>
            <a:ext cx="54864" cy="658368"/>
          </a:xfrm>
          <a:prstGeom prst="rect">
            <a:avLst/>
          </a:prstGeom>
          <a:solidFill>
            <a:srgbClr val="10B981"/>
          </a:solidFill>
          <a:ln/>
        </p:spPr>
      </p:sp>
      <p:sp>
        <p:nvSpPr>
          <p:cNvPr id="7" name="Text 5"/>
          <p:cNvSpPr/>
          <p:nvPr/>
        </p:nvSpPr>
        <p:spPr>
          <a:xfrm>
            <a:off x="914400" y="1069848"/>
            <a:ext cx="320040" cy="320040"/>
          </a:xfrm>
          <a:prstGeom prst="rect">
            <a:avLst/>
          </a:prstGeom>
          <a:solidFill>
            <a:srgbClr val="10B981"/>
          </a:solidFill>
          <a:ln/>
        </p:spPr>
        <p:txBody>
          <a:bodyPr wrap="square" lIns="0" tIns="0" rIns="0" bIns="0" rtlCol="0" anchor="ctr"/>
          <a:lstStyle/>
          <a:p>
            <a:pPr algn="ctr" indent="0" marL="0">
              <a:buNone/>
            </a:pPr>
            <a:r>
              <a:rPr lang="en-US" sz="1500" dirty="0">
                <a:solidFill>
                  <a:srgbClr val="0D1117"/>
                </a:solidFill>
                <a:latin typeface="Georgia" pitchFamily="34" charset="0"/>
                <a:ea typeface="Georgia" pitchFamily="34" charset="-122"/>
                <a:cs typeface="Georgia" pitchFamily="34" charset="-120"/>
              </a:rPr>
              <a:t>1</a:t>
            </a:r>
            <a:endParaRPr lang="en-US" sz="1500" dirty="0"/>
          </a:p>
        </p:txBody>
      </p:sp>
      <p:sp>
        <p:nvSpPr>
          <p:cNvPr id="8" name="Text 6"/>
          <p:cNvSpPr/>
          <p:nvPr/>
        </p:nvSpPr>
        <p:spPr>
          <a:xfrm>
            <a:off x="1371600" y="1051560"/>
            <a:ext cx="1828800" cy="320040"/>
          </a:xfrm>
          <a:prstGeom prst="rect">
            <a:avLst/>
          </a:prstGeom>
          <a:noFill/>
          <a:ln/>
        </p:spPr>
        <p:txBody>
          <a:bodyPr wrap="square" lIns="0" tIns="0" rIns="0" bIns="0" rtlCol="0" anchor="b"/>
          <a:lstStyle/>
          <a:p>
            <a:pPr indent="0" marL="0">
              <a:buNone/>
            </a:pPr>
            <a:r>
              <a:rPr lang="en-US" sz="1200" b="1" dirty="0">
                <a:solidFill>
                  <a:srgbClr val="10B981"/>
                </a:solidFill>
                <a:latin typeface="Calibri" pitchFamily="34" charset="0"/>
                <a:ea typeface="Calibri" pitchFamily="34" charset="-122"/>
                <a:cs typeface="Calibri" pitchFamily="34" charset="-120"/>
              </a:rPr>
              <a:t>Net Energy Balance</a:t>
            </a:r>
            <a:endParaRPr lang="en-US" sz="1200" dirty="0"/>
          </a:p>
        </p:txBody>
      </p:sp>
      <p:sp>
        <p:nvSpPr>
          <p:cNvPr id="9" name="Text 7"/>
          <p:cNvSpPr/>
          <p:nvPr/>
        </p:nvSpPr>
        <p:spPr>
          <a:xfrm>
            <a:off x="1371600" y="137160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Output exceeds input over millions of cycles</a:t>
            </a:r>
            <a:endParaRPr lang="en-US" sz="1000" dirty="0"/>
          </a:p>
        </p:txBody>
      </p:sp>
      <p:sp>
        <p:nvSpPr>
          <p:cNvPr id="10" name="Text 8"/>
          <p:cNvSpPr/>
          <p:nvPr/>
        </p:nvSpPr>
        <p:spPr>
          <a:xfrm>
            <a:off x="3383280" y="1051560"/>
            <a:ext cx="4846320" cy="658368"/>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Small but consistent positive net energy</a:t>
            </a:r>
            <a:endParaRPr lang="en-US" sz="1100" dirty="0"/>
          </a:p>
        </p:txBody>
      </p:sp>
      <p:sp>
        <p:nvSpPr>
          <p:cNvPr id="11" name="Shape 9"/>
          <p:cNvSpPr/>
          <p:nvPr/>
        </p:nvSpPr>
        <p:spPr>
          <a:xfrm>
            <a:off x="731520" y="1801368"/>
            <a:ext cx="7680960" cy="658368"/>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12" name="Shape 10"/>
          <p:cNvSpPr/>
          <p:nvPr/>
        </p:nvSpPr>
        <p:spPr>
          <a:xfrm>
            <a:off x="731520" y="1801368"/>
            <a:ext cx="54864" cy="658368"/>
          </a:xfrm>
          <a:prstGeom prst="rect">
            <a:avLst/>
          </a:prstGeom>
          <a:solidFill>
            <a:srgbClr val="F59E0B"/>
          </a:solidFill>
          <a:ln/>
        </p:spPr>
      </p:sp>
      <p:sp>
        <p:nvSpPr>
          <p:cNvPr id="13" name="Text 11"/>
          <p:cNvSpPr/>
          <p:nvPr/>
        </p:nvSpPr>
        <p:spPr>
          <a:xfrm>
            <a:off x="914400" y="1819656"/>
            <a:ext cx="320040" cy="320040"/>
          </a:xfrm>
          <a:prstGeom prst="rect">
            <a:avLst/>
          </a:prstGeom>
          <a:solidFill>
            <a:srgbClr val="F59E0B"/>
          </a:solidFill>
          <a:ln/>
        </p:spPr>
        <p:txBody>
          <a:bodyPr wrap="square" lIns="0" tIns="0" rIns="0" bIns="0" rtlCol="0" anchor="ctr"/>
          <a:lstStyle/>
          <a:p>
            <a:pPr algn="ctr" indent="0" marL="0">
              <a:buNone/>
            </a:pPr>
            <a:r>
              <a:rPr lang="en-US" sz="1500" dirty="0">
                <a:solidFill>
                  <a:srgbClr val="0D1117"/>
                </a:solidFill>
                <a:latin typeface="Georgia" pitchFamily="34" charset="0"/>
                <a:ea typeface="Georgia" pitchFamily="34" charset="-122"/>
                <a:cs typeface="Georgia" pitchFamily="34" charset="-120"/>
              </a:rPr>
              <a:t>2</a:t>
            </a:r>
            <a:endParaRPr lang="en-US" sz="1500" dirty="0"/>
          </a:p>
        </p:txBody>
      </p:sp>
      <p:sp>
        <p:nvSpPr>
          <p:cNvPr id="14" name="Text 12"/>
          <p:cNvSpPr/>
          <p:nvPr/>
        </p:nvSpPr>
        <p:spPr>
          <a:xfrm>
            <a:off x="1371600" y="1801368"/>
            <a:ext cx="1828800" cy="320040"/>
          </a:xfrm>
          <a:prstGeom prst="rect">
            <a:avLst/>
          </a:prstGeom>
          <a:noFill/>
          <a:ln/>
        </p:spPr>
        <p:txBody>
          <a:bodyPr wrap="square" lIns="0" tIns="0" rIns="0" bIns="0" rtlCol="0" anchor="b"/>
          <a:lstStyle/>
          <a:p>
            <a:pPr indent="0" marL="0">
              <a:buNone/>
            </a:pPr>
            <a:r>
              <a:rPr lang="en-US" sz="1200" b="1" dirty="0">
                <a:solidFill>
                  <a:srgbClr val="F59E0B"/>
                </a:solidFill>
                <a:latin typeface="Calibri" pitchFamily="34" charset="0"/>
                <a:ea typeface="Calibri" pitchFamily="34" charset="-122"/>
                <a:cs typeface="Calibri" pitchFamily="34" charset="-120"/>
              </a:rPr>
              <a:t>Magnetic Dependence</a:t>
            </a:r>
            <a:endParaRPr lang="en-US" sz="1200" dirty="0"/>
          </a:p>
        </p:txBody>
      </p:sp>
      <p:sp>
        <p:nvSpPr>
          <p:cNvPr id="15" name="Text 13"/>
          <p:cNvSpPr/>
          <p:nvPr/>
        </p:nvSpPr>
        <p:spPr>
          <a:xfrm>
            <a:off x="1371600" y="2121408"/>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Signal changes with magnet strength</a:t>
            </a:r>
            <a:endParaRPr lang="en-US" sz="1000" dirty="0"/>
          </a:p>
        </p:txBody>
      </p:sp>
      <p:sp>
        <p:nvSpPr>
          <p:cNvPr id="16" name="Text 14"/>
          <p:cNvSpPr/>
          <p:nvPr/>
        </p:nvSpPr>
        <p:spPr>
          <a:xfrm>
            <a:off x="3383280" y="1801368"/>
            <a:ext cx="4846320" cy="658368"/>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Magnets off = zero net. Magnets on = positive. Scales with field.</a:t>
            </a:r>
            <a:endParaRPr lang="en-US" sz="1100" dirty="0"/>
          </a:p>
        </p:txBody>
      </p:sp>
      <p:sp>
        <p:nvSpPr>
          <p:cNvPr id="17" name="Shape 15"/>
          <p:cNvSpPr/>
          <p:nvPr/>
        </p:nvSpPr>
        <p:spPr>
          <a:xfrm>
            <a:off x="731520" y="2551176"/>
            <a:ext cx="7680960" cy="658368"/>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18" name="Shape 16"/>
          <p:cNvSpPr/>
          <p:nvPr/>
        </p:nvSpPr>
        <p:spPr>
          <a:xfrm>
            <a:off x="731520" y="2551176"/>
            <a:ext cx="54864" cy="658368"/>
          </a:xfrm>
          <a:prstGeom prst="rect">
            <a:avLst/>
          </a:prstGeom>
          <a:solidFill>
            <a:srgbClr val="06B6D4"/>
          </a:solidFill>
          <a:ln/>
        </p:spPr>
      </p:sp>
      <p:sp>
        <p:nvSpPr>
          <p:cNvPr id="19" name="Text 17"/>
          <p:cNvSpPr/>
          <p:nvPr/>
        </p:nvSpPr>
        <p:spPr>
          <a:xfrm>
            <a:off x="914400" y="2569464"/>
            <a:ext cx="320040" cy="320040"/>
          </a:xfrm>
          <a:prstGeom prst="rect">
            <a:avLst/>
          </a:prstGeom>
          <a:solidFill>
            <a:srgbClr val="06B6D4"/>
          </a:solidFill>
          <a:ln/>
        </p:spPr>
        <p:txBody>
          <a:bodyPr wrap="square" lIns="0" tIns="0" rIns="0" bIns="0" rtlCol="0" anchor="ctr"/>
          <a:lstStyle/>
          <a:p>
            <a:pPr algn="ctr" indent="0" marL="0">
              <a:buNone/>
            </a:pPr>
            <a:r>
              <a:rPr lang="en-US" sz="1500" dirty="0">
                <a:solidFill>
                  <a:srgbClr val="0D1117"/>
                </a:solidFill>
                <a:latin typeface="Georgia" pitchFamily="34" charset="0"/>
                <a:ea typeface="Georgia" pitchFamily="34" charset="-122"/>
                <a:cs typeface="Georgia" pitchFamily="34" charset="-120"/>
              </a:rPr>
              <a:t>3</a:t>
            </a:r>
            <a:endParaRPr lang="en-US" sz="1500" dirty="0"/>
          </a:p>
        </p:txBody>
      </p:sp>
      <p:sp>
        <p:nvSpPr>
          <p:cNvPr id="20" name="Text 18"/>
          <p:cNvSpPr/>
          <p:nvPr/>
        </p:nvSpPr>
        <p:spPr>
          <a:xfrm>
            <a:off x="1371600" y="2551176"/>
            <a:ext cx="1828800" cy="320040"/>
          </a:xfrm>
          <a:prstGeom prst="rect">
            <a:avLst/>
          </a:prstGeom>
          <a:noFill/>
          <a:ln/>
        </p:spPr>
        <p:txBody>
          <a:bodyPr wrap="square" lIns="0" tIns="0" rIns="0" bIns="0" rtlCol="0" anchor="b"/>
          <a:lstStyle/>
          <a:p>
            <a:pPr indent="0" marL="0">
              <a:buNone/>
            </a:pPr>
            <a:r>
              <a:rPr lang="en-US" sz="1200" b="1" dirty="0">
                <a:solidFill>
                  <a:srgbClr val="06B6D4"/>
                </a:solidFill>
                <a:latin typeface="Calibri" pitchFamily="34" charset="0"/>
                <a:ea typeface="Calibri" pitchFamily="34" charset="-122"/>
                <a:cs typeface="Calibri" pitchFamily="34" charset="-120"/>
              </a:rPr>
              <a:t>Orientation Dependence</a:t>
            </a:r>
            <a:endParaRPr lang="en-US" sz="1200" dirty="0"/>
          </a:p>
        </p:txBody>
      </p:sp>
      <p:sp>
        <p:nvSpPr>
          <p:cNvPr id="21" name="Text 19"/>
          <p:cNvSpPr/>
          <p:nvPr/>
        </p:nvSpPr>
        <p:spPr>
          <a:xfrm>
            <a:off x="1371600" y="2871216"/>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Tilt the device, measure change</a:t>
            </a:r>
            <a:endParaRPr lang="en-US" sz="1000" dirty="0"/>
          </a:p>
        </p:txBody>
      </p:sp>
      <p:sp>
        <p:nvSpPr>
          <p:cNvPr id="22" name="Text 20"/>
          <p:cNvSpPr/>
          <p:nvPr/>
        </p:nvSpPr>
        <p:spPr>
          <a:xfrm>
            <a:off x="3383280" y="2551176"/>
            <a:ext cx="4846320" cy="658368"/>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Vertical = max. Horizontal = reduced. Standard physics predicts NO change.</a:t>
            </a:r>
            <a:endParaRPr lang="en-US" sz="1100" dirty="0"/>
          </a:p>
        </p:txBody>
      </p:sp>
      <p:sp>
        <p:nvSpPr>
          <p:cNvPr id="23" name="Shape 21"/>
          <p:cNvSpPr/>
          <p:nvPr/>
        </p:nvSpPr>
        <p:spPr>
          <a:xfrm>
            <a:off x="731520" y="3300984"/>
            <a:ext cx="7680960" cy="658368"/>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24" name="Shape 22"/>
          <p:cNvSpPr/>
          <p:nvPr/>
        </p:nvSpPr>
        <p:spPr>
          <a:xfrm>
            <a:off x="731520" y="3300984"/>
            <a:ext cx="54864" cy="658368"/>
          </a:xfrm>
          <a:prstGeom prst="rect">
            <a:avLst/>
          </a:prstGeom>
          <a:solidFill>
            <a:srgbClr val="F97316"/>
          </a:solidFill>
          <a:ln/>
        </p:spPr>
      </p:sp>
      <p:sp>
        <p:nvSpPr>
          <p:cNvPr id="25" name="Text 23"/>
          <p:cNvSpPr/>
          <p:nvPr/>
        </p:nvSpPr>
        <p:spPr>
          <a:xfrm>
            <a:off x="914400" y="3319272"/>
            <a:ext cx="320040" cy="320040"/>
          </a:xfrm>
          <a:prstGeom prst="rect">
            <a:avLst/>
          </a:prstGeom>
          <a:solidFill>
            <a:srgbClr val="F97316"/>
          </a:solidFill>
          <a:ln/>
        </p:spPr>
        <p:txBody>
          <a:bodyPr wrap="square" lIns="0" tIns="0" rIns="0" bIns="0" rtlCol="0" anchor="ctr"/>
          <a:lstStyle/>
          <a:p>
            <a:pPr algn="ctr" indent="0" marL="0">
              <a:buNone/>
            </a:pPr>
            <a:r>
              <a:rPr lang="en-US" sz="1500" dirty="0">
                <a:solidFill>
                  <a:srgbClr val="0D1117"/>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371600" y="3300984"/>
            <a:ext cx="1828800" cy="320040"/>
          </a:xfrm>
          <a:prstGeom prst="rect">
            <a:avLst/>
          </a:prstGeom>
          <a:noFill/>
          <a:ln/>
        </p:spPr>
        <p:txBody>
          <a:bodyPr wrap="square" lIns="0" tIns="0" rIns="0" bIns="0" rtlCol="0" anchor="b"/>
          <a:lstStyle/>
          <a:p>
            <a:pPr indent="0" marL="0">
              <a:buNone/>
            </a:pPr>
            <a:r>
              <a:rPr lang="en-US" sz="1200" b="1" dirty="0">
                <a:solidFill>
                  <a:srgbClr val="F97316"/>
                </a:solidFill>
                <a:latin typeface="Calibri" pitchFamily="34" charset="0"/>
                <a:ea typeface="Calibri" pitchFamily="34" charset="-122"/>
                <a:cs typeface="Calibri" pitchFamily="34" charset="-120"/>
              </a:rPr>
              <a:t>Dielectric Scaling</a:t>
            </a:r>
            <a:endParaRPr lang="en-US" sz="1200" dirty="0"/>
          </a:p>
        </p:txBody>
      </p:sp>
      <p:sp>
        <p:nvSpPr>
          <p:cNvPr id="27" name="Text 25"/>
          <p:cNvSpPr/>
          <p:nvPr/>
        </p:nvSpPr>
        <p:spPr>
          <a:xfrm>
            <a:off x="1371600" y="3621024"/>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Swap materials with different K values</a:t>
            </a:r>
            <a:endParaRPr lang="en-US" sz="1000" dirty="0"/>
          </a:p>
        </p:txBody>
      </p:sp>
      <p:sp>
        <p:nvSpPr>
          <p:cNvPr id="28" name="Text 26"/>
          <p:cNvSpPr/>
          <p:nvPr/>
        </p:nvSpPr>
        <p:spPr>
          <a:xfrm>
            <a:off x="3383280" y="3300984"/>
            <a:ext cx="4846320" cy="658368"/>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Signal scales with dielectric constant: higher K = more output</a:t>
            </a:r>
            <a:endParaRPr lang="en-US" sz="1100" dirty="0"/>
          </a:p>
        </p:txBody>
      </p:sp>
      <p:sp>
        <p:nvSpPr>
          <p:cNvPr id="29" name="Shape 27"/>
          <p:cNvSpPr/>
          <p:nvPr/>
        </p:nvSpPr>
        <p:spPr>
          <a:xfrm>
            <a:off x="731520" y="4050792"/>
            <a:ext cx="7680960" cy="658368"/>
          </a:xfrm>
          <a:prstGeom prst="rect">
            <a:avLst/>
          </a:prstGeom>
          <a:solidFill>
            <a:srgbClr val="1C2333"/>
          </a:solidFill>
          <a:ln/>
          <a:effectLst>
            <a:outerShdw sx="100000" sy="100000" kx="0" ky="0" algn="bl" rotWithShape="0" blurRad="63500" dist="25400" dir="8100000">
              <a:srgbClr val="000000">
                <a:alpha val="22000"/>
              </a:srgbClr>
            </a:outerShdw>
          </a:effectLst>
        </p:spPr>
      </p:sp>
      <p:sp>
        <p:nvSpPr>
          <p:cNvPr id="30" name="Shape 28"/>
          <p:cNvSpPr/>
          <p:nvPr/>
        </p:nvSpPr>
        <p:spPr>
          <a:xfrm>
            <a:off x="731520" y="4050792"/>
            <a:ext cx="54864" cy="658368"/>
          </a:xfrm>
          <a:prstGeom prst="rect">
            <a:avLst/>
          </a:prstGeom>
          <a:solidFill>
            <a:srgbClr val="8B5CF6"/>
          </a:solidFill>
          <a:ln/>
        </p:spPr>
      </p:sp>
      <p:sp>
        <p:nvSpPr>
          <p:cNvPr id="31" name="Text 29"/>
          <p:cNvSpPr/>
          <p:nvPr/>
        </p:nvSpPr>
        <p:spPr>
          <a:xfrm>
            <a:off x="914400" y="4069080"/>
            <a:ext cx="320040" cy="320040"/>
          </a:xfrm>
          <a:prstGeom prst="rect">
            <a:avLst/>
          </a:prstGeom>
          <a:solidFill>
            <a:srgbClr val="8B5CF6"/>
          </a:solidFill>
          <a:ln/>
        </p:spPr>
        <p:txBody>
          <a:bodyPr wrap="square" lIns="0" tIns="0" rIns="0" bIns="0" rtlCol="0" anchor="ctr"/>
          <a:lstStyle/>
          <a:p>
            <a:pPr algn="ctr" indent="0" marL="0">
              <a:buNone/>
            </a:pPr>
            <a:r>
              <a:rPr lang="en-US" sz="1500" dirty="0">
                <a:solidFill>
                  <a:srgbClr val="0D1117"/>
                </a:solidFill>
                <a:latin typeface="Georgia" pitchFamily="34" charset="0"/>
                <a:ea typeface="Georgia" pitchFamily="34" charset="-122"/>
                <a:cs typeface="Georgia" pitchFamily="34" charset="-120"/>
              </a:rPr>
              <a:t>5</a:t>
            </a:r>
            <a:endParaRPr lang="en-US" sz="1500" dirty="0"/>
          </a:p>
        </p:txBody>
      </p:sp>
      <p:sp>
        <p:nvSpPr>
          <p:cNvPr id="32" name="Text 30"/>
          <p:cNvSpPr/>
          <p:nvPr/>
        </p:nvSpPr>
        <p:spPr>
          <a:xfrm>
            <a:off x="1371600" y="4050792"/>
            <a:ext cx="1828800" cy="320040"/>
          </a:xfrm>
          <a:prstGeom prst="rect">
            <a:avLst/>
          </a:prstGeom>
          <a:noFill/>
          <a:ln/>
        </p:spPr>
        <p:txBody>
          <a:bodyPr wrap="square" lIns="0" tIns="0" rIns="0" bIns="0" rtlCol="0" anchor="b"/>
          <a:lstStyle/>
          <a:p>
            <a:pPr indent="0" marL="0">
              <a:buNone/>
            </a:pPr>
            <a:r>
              <a:rPr lang="en-US" sz="1200" b="1" dirty="0">
                <a:solidFill>
                  <a:srgbClr val="8B5CF6"/>
                </a:solidFill>
                <a:latin typeface="Calibri" pitchFamily="34" charset="0"/>
                <a:ea typeface="Calibri" pitchFamily="34" charset="-122"/>
                <a:cs typeface="Calibri" pitchFamily="34" charset="-120"/>
              </a:rPr>
              <a:t>Spectral Fingerprint</a:t>
            </a:r>
            <a:endParaRPr lang="en-US" sz="1200" dirty="0"/>
          </a:p>
        </p:txBody>
      </p:sp>
      <p:sp>
        <p:nvSpPr>
          <p:cNvPr id="33" name="Text 31"/>
          <p:cNvSpPr/>
          <p:nvPr/>
        </p:nvSpPr>
        <p:spPr>
          <a:xfrm>
            <a:off x="1371600" y="4370832"/>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Analyze output frequency and statistics</a:t>
            </a:r>
            <a:endParaRPr lang="en-US" sz="1000" dirty="0"/>
          </a:p>
        </p:txBody>
      </p:sp>
      <p:sp>
        <p:nvSpPr>
          <p:cNvPr id="34" name="Text 32"/>
          <p:cNvSpPr/>
          <p:nvPr/>
        </p:nvSpPr>
        <p:spPr>
          <a:xfrm>
            <a:off x="3383280" y="4050792"/>
            <a:ext cx="4846320" cy="658368"/>
          </a:xfrm>
          <a:prstGeom prst="rect">
            <a:avLst/>
          </a:prstGeom>
          <a:noFill/>
          <a:ln/>
        </p:spPr>
        <p:txBody>
          <a:bodyPr wrap="square" lIns="0" tIns="0" rIns="0" bIns="0" rtlCol="0" anchor="ctr"/>
          <a:lstStyle/>
          <a:p>
            <a:pPr indent="0" marL="0">
              <a:buNone/>
            </a:pPr>
            <a:r>
              <a:rPr lang="en-US" sz="1100" dirty="0">
                <a:solidFill>
                  <a:srgbClr val="D1D5DB"/>
                </a:solidFill>
                <a:latin typeface="Calibri" pitchFamily="34" charset="0"/>
                <a:ea typeface="Calibri" pitchFamily="34" charset="-122"/>
                <a:cs typeface="Calibri" pitchFamily="34" charset="-120"/>
              </a:rPr>
              <a:t>Correlated photon pairs, non-thermal statistics — vacuum signature</a:t>
            </a:r>
            <a:endParaRPr lang="en-US" sz="1100" dirty="0"/>
          </a:p>
        </p:txBody>
      </p:sp>
      <p:sp>
        <p:nvSpPr>
          <p:cNvPr id="35" name="Text 33"/>
          <p:cNvSpPr/>
          <p:nvPr/>
        </p:nvSpPr>
        <p:spPr>
          <a:xfrm>
            <a:off x="731520" y="4572000"/>
            <a:ext cx="7680960" cy="274320"/>
          </a:xfrm>
          <a:prstGeom prst="rect">
            <a:avLst/>
          </a:prstGeom>
          <a:noFill/>
          <a:ln/>
        </p:spPr>
        <p:txBody>
          <a:bodyPr wrap="square" lIns="0" tIns="0" rIns="0" bIns="0" rtlCol="0" anchor="ctr"/>
          <a:lstStyle/>
          <a:p>
            <a:pPr indent="0" marL="0">
              <a:buNone/>
            </a:pPr>
            <a:r>
              <a:rPr lang="en-US" sz="1000" i="1" dirty="0">
                <a:solidFill>
                  <a:srgbClr val="9CA3AF"/>
                </a:solidFill>
                <a:latin typeface="Calibri" pitchFamily="34" charset="0"/>
                <a:ea typeface="Calibri" pitchFamily="34" charset="-122"/>
                <a:cs typeface="Calibri" pitchFamily="34" charset="-120"/>
              </a:rPr>
              <a:t>If ALL five tests show null results with no anomalous signals, the extraction mechanism doesn't work at this scale. That's valuable information too.</a:t>
            </a:r>
            <a:endParaRPr lang="en-US" sz="1000" dirty="0"/>
          </a:p>
        </p:txBody>
      </p:sp>
      <p:sp>
        <p:nvSpPr>
          <p:cNvPr id="36" name="Shape 34"/>
          <p:cNvSpPr/>
          <p:nvPr/>
        </p:nvSpPr>
        <p:spPr>
          <a:xfrm>
            <a:off x="0" y="4919472"/>
            <a:ext cx="9144000" cy="228600"/>
          </a:xfrm>
          <a:prstGeom prst="rect">
            <a:avLst/>
          </a:prstGeom>
          <a:solidFill>
            <a:srgbClr val="1C2333"/>
          </a:solidFill>
          <a:ln/>
        </p:spPr>
      </p:sp>
      <p:sp>
        <p:nvSpPr>
          <p:cNvPr id="37" name="Text 35"/>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59E0B"/>
          </a:solidFill>
          <a:ln/>
        </p:spPr>
      </p:sp>
      <p:pic>
        <p:nvPicPr>
          <p:cNvPr id="3" name="Image 0" descr="preencoded.png">    </p:cNvPr>
          <p:cNvPicPr>
            <a:picLocks noChangeAspect="1"/>
          </p:cNvPicPr>
          <p:nvPr/>
        </p:nvPicPr>
        <p:blipFill>
          <a:blip r:embed="rId1"/>
          <a:stretch>
            <a:fillRect/>
          </a:stretch>
        </p:blipFill>
        <p:spPr>
          <a:xfrm>
            <a:off x="3886200" y="457200"/>
            <a:ext cx="914400" cy="914400"/>
          </a:xfrm>
          <a:prstGeom prst="rect">
            <a:avLst/>
          </a:prstGeom>
        </p:spPr>
      </p:pic>
      <p:sp>
        <p:nvSpPr>
          <p:cNvPr id="4" name="Text 1"/>
          <p:cNvSpPr/>
          <p:nvPr/>
        </p:nvSpPr>
        <p:spPr>
          <a:xfrm>
            <a:off x="731520" y="1645920"/>
            <a:ext cx="7680960" cy="640080"/>
          </a:xfrm>
          <a:prstGeom prst="rect">
            <a:avLst/>
          </a:prstGeom>
          <a:noFill/>
          <a:ln/>
        </p:spPr>
        <p:txBody>
          <a:bodyPr wrap="square" lIns="0" tIns="0" rIns="0" bIns="0" rtlCol="0" anchor="ctr"/>
          <a:lstStyle/>
          <a:p>
            <a:pPr algn="ctr" indent="0" marL="0">
              <a:buNone/>
            </a:pPr>
            <a:r>
              <a:rPr lang="en-US" sz="3200" dirty="0">
                <a:solidFill>
                  <a:srgbClr val="FFFFFF"/>
                </a:solidFill>
                <a:latin typeface="Georgia" pitchFamily="34" charset="0"/>
                <a:ea typeface="Georgia" pitchFamily="34" charset="-122"/>
                <a:cs typeface="Georgia" pitchFamily="34" charset="-120"/>
              </a:rPr>
              <a:t>THE ENERGY IS THERE.</a:t>
            </a:r>
            <a:endParaRPr lang="en-US" sz="3200" dirty="0"/>
          </a:p>
        </p:txBody>
      </p:sp>
      <p:sp>
        <p:nvSpPr>
          <p:cNvPr id="5" name="Text 2"/>
          <p:cNvSpPr/>
          <p:nvPr/>
        </p:nvSpPr>
        <p:spPr>
          <a:xfrm>
            <a:off x="731520" y="2286000"/>
            <a:ext cx="7680960" cy="548640"/>
          </a:xfrm>
          <a:prstGeom prst="rect">
            <a:avLst/>
          </a:prstGeom>
          <a:noFill/>
          <a:ln/>
        </p:spPr>
        <p:txBody>
          <a:bodyPr wrap="square" lIns="0" tIns="0" rIns="0" bIns="0" rtlCol="0" anchor="ctr"/>
          <a:lstStyle/>
          <a:p>
            <a:pPr algn="ctr" indent="0" marL="0">
              <a:buNone/>
            </a:pPr>
            <a:r>
              <a:rPr lang="en-US" sz="2600" dirty="0">
                <a:solidFill>
                  <a:srgbClr val="9CA3AF"/>
                </a:solidFill>
                <a:latin typeface="Georgia" pitchFamily="34" charset="0"/>
                <a:ea typeface="Georgia" pitchFamily="34" charset="-122"/>
                <a:cs typeface="Georgia" pitchFamily="34" charset="-120"/>
              </a:rPr>
              <a:t>EVERYONE AGREES ON THAT.</a:t>
            </a:r>
            <a:endParaRPr lang="en-US" sz="2600" dirty="0"/>
          </a:p>
        </p:txBody>
      </p:sp>
      <p:sp>
        <p:nvSpPr>
          <p:cNvPr id="6" name="Shape 3"/>
          <p:cNvSpPr/>
          <p:nvPr/>
        </p:nvSpPr>
        <p:spPr>
          <a:xfrm>
            <a:off x="2286000" y="3017520"/>
            <a:ext cx="4572000" cy="36576"/>
          </a:xfrm>
          <a:prstGeom prst="rect">
            <a:avLst/>
          </a:prstGeom>
          <a:solidFill>
            <a:srgbClr val="F59E0B"/>
          </a:solidFill>
          <a:ln/>
        </p:spPr>
      </p:sp>
      <p:sp>
        <p:nvSpPr>
          <p:cNvPr id="7" name="Text 4"/>
          <p:cNvSpPr/>
          <p:nvPr/>
        </p:nvSpPr>
        <p:spPr>
          <a:xfrm>
            <a:off x="1371600" y="3291840"/>
            <a:ext cx="6400800" cy="640080"/>
          </a:xfrm>
          <a:prstGeom prst="rect">
            <a:avLst/>
          </a:prstGeom>
          <a:noFill/>
          <a:ln/>
        </p:spPr>
        <p:txBody>
          <a:bodyPr wrap="square" lIns="0" tIns="0" rIns="0" bIns="0" rtlCol="0" anchor="ctr"/>
          <a:lstStyle/>
          <a:p>
            <a:pPr algn="ctr" indent="0" marL="0">
              <a:buNone/>
            </a:pPr>
            <a:r>
              <a:rPr lang="en-US" sz="1600" i="1" dirty="0">
                <a:solidFill>
                  <a:srgbClr val="F59E0B"/>
                </a:solidFill>
                <a:latin typeface="Calibri" pitchFamily="34" charset="0"/>
                <a:ea typeface="Calibri" pitchFamily="34" charset="-122"/>
                <a:cs typeface="Calibri" pitchFamily="34" charset="-120"/>
              </a:rPr>
              <a:t>The only question is whether the membrane is a dead lake</a:t>
            </a:r>
            <a:endParaRPr lang="en-US" sz="1600" dirty="0"/>
          </a:p>
          <a:p>
            <a:pPr algn="ctr" indent="0" marL="0">
              <a:buNone/>
            </a:pPr>
            <a:r>
              <a:rPr lang="en-US" sz="1600" i="1" dirty="0">
                <a:solidFill>
                  <a:srgbClr val="F59E0B"/>
                </a:solidFill>
                <a:latin typeface="Calibri" pitchFamily="34" charset="0"/>
                <a:ea typeface="Calibri" pitchFamily="34" charset="-122"/>
                <a:cs typeface="Calibri" pitchFamily="34" charset="-120"/>
              </a:rPr>
              <a:t>or a living river.</a:t>
            </a:r>
            <a:endParaRPr lang="en-US" sz="1600" dirty="0"/>
          </a:p>
        </p:txBody>
      </p:sp>
      <p:sp>
        <p:nvSpPr>
          <p:cNvPr id="8" name="Text 5"/>
          <p:cNvSpPr/>
          <p:nvPr/>
        </p:nvSpPr>
        <p:spPr>
          <a:xfrm>
            <a:off x="1371600" y="4114800"/>
            <a:ext cx="6400800" cy="457200"/>
          </a:xfrm>
          <a:prstGeom prst="rect">
            <a:avLst/>
          </a:prstGeom>
          <a:noFill/>
          <a:ln/>
        </p:spPr>
        <p:txBody>
          <a:bodyPr wrap="square" lIns="0" tIns="0" rIns="0" bIns="0" rtlCol="0" anchor="ctr"/>
          <a:lstStyle/>
          <a:p>
            <a:pPr algn="ctr" indent="0" marL="0">
              <a:buNone/>
            </a:pPr>
            <a:r>
              <a:rPr lang="en-US" sz="1800" dirty="0">
                <a:solidFill>
                  <a:srgbClr val="10B981"/>
                </a:solidFill>
                <a:latin typeface="Georgia" pitchFamily="34" charset="0"/>
                <a:ea typeface="Georgia" pitchFamily="34" charset="-122"/>
                <a:cs typeface="Georgia" pitchFamily="34" charset="-120"/>
              </a:rPr>
              <a:t>A $150 experiment will tell us.</a:t>
            </a:r>
            <a:endParaRPr lang="en-US" sz="1800" dirty="0"/>
          </a:p>
        </p:txBody>
      </p:sp>
      <p:sp>
        <p:nvSpPr>
          <p:cNvPr id="9" name="Shape 6"/>
          <p:cNvSpPr/>
          <p:nvPr/>
        </p:nvSpPr>
        <p:spPr>
          <a:xfrm>
            <a:off x="0" y="4919472"/>
            <a:ext cx="9144000" cy="228600"/>
          </a:xfrm>
          <a:prstGeom prst="rect">
            <a:avLst/>
          </a:prstGeom>
          <a:solidFill>
            <a:srgbClr val="1C2333"/>
          </a:solidFill>
          <a:ln/>
        </p:spPr>
      </p:sp>
      <p:sp>
        <p:nvSpPr>
          <p:cNvPr id="10" name="Text 7"/>
          <p:cNvSpPr/>
          <p:nvPr/>
        </p:nvSpPr>
        <p:spPr>
          <a:xfrm>
            <a:off x="457200" y="4919472"/>
            <a:ext cx="82296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Genesis Physics Project  |  Membrane Resonance Generator  |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Membrane Resonance Generator — Detailed Technical Briefing</dc:title>
  <dc:subject>PptxGenJS Presentation</dc:subject>
  <dc:creator>Jeff Raymond</dc:creator>
  <cp:lastModifiedBy>Jeff Raymond</cp:lastModifiedBy>
  <cp:revision>1</cp:revision>
  <dcterms:created xsi:type="dcterms:W3CDTF">2026-03-25T00:48:13Z</dcterms:created>
  <dcterms:modified xsi:type="dcterms:W3CDTF">2026-03-25T00:48:13Z</dcterms:modified>
</cp:coreProperties>
</file>