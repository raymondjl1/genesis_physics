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VESSEL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GFS Exodus — Genesis-Class Deep Firmament Explorer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0" y="3291840"/>
            <a:ext cx="274320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Naval Architecture &amp; Systems Design Specification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Philosophy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"Enterprise-E authority. Millennium Falcon survivability. Catamaran luxury."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Captain Thorne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90D9"/>
                </a:solidFill>
              </a:rPr>
              <a:t>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926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Enterprise-E Authority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29260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presence and prestige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383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90D9"/>
                </a:solidFill>
              </a:rPr>
              <a:t>◆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3383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Millennium Falcon Survivability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3383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Rugged, reliable, against the odds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8404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90D9"/>
                </a:solidFill>
              </a:rPr>
              <a:t>◆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3840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Catamaran Luxury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3840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Stability, elegance, and comfort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 Profile — Side 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2377440"/>
            <a:ext cx="6400800" cy="7315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1737360"/>
            <a:ext cx="3657600" cy="548640"/>
          </a:xfrm>
          <a:prstGeom prst="rect">
            <a:avLst/>
          </a:prstGeom>
          <a:solidFill>
            <a:srgbClr val="4A90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468880"/>
            <a:ext cx="731520" cy="5486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0" y="2468880"/>
            <a:ext cx="731520" cy="5486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2377440"/>
            <a:ext cx="13716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818120" y="2377440"/>
            <a:ext cx="13716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097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Bridge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0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Hull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3108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Nacelle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98080" y="3108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Starboard Nacelle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Length: 347m | Beam: 148m | Height: 87m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Top-Down 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2926080" y="1737360"/>
            <a:ext cx="3291840" cy="1463040"/>
          </a:xfrm>
          <a:prstGeom prst="rect">
            <a:avLst/>
          </a:prstGeom>
          <a:solidFill>
            <a:srgbClr val="4A90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2194560"/>
            <a:ext cx="1097280" cy="64008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0" y="2194560"/>
            <a:ext cx="1097280" cy="64008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2331720"/>
            <a:ext cx="1097280" cy="914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0" y="2331720"/>
            <a:ext cx="1097280" cy="914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371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347m Length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297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148m Beam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Arrowhead design provides superior maneuverability and tactical advantage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Specifications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347 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46320" y="11887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148 m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846320" y="1645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21945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846320" y="26517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 sec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57200" y="3657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Time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32004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485,000 t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4846320" y="3657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Displacement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Acceleration: 12 g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Genesis Physics Framework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solidFill>
            <a:srgbClr val="2D3E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53312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Waters Above (Dark Energy)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solidFill>
            <a:srgbClr val="3D4E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10512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Firmament (Spacetime Membrane)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solidFill>
            <a:srgbClr val="4D5E7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267712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Space (Observable Universe)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solidFill>
            <a:srgbClr val="3D4E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724912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Waters Below (Dark Matter)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solidFill>
            <a:srgbClr val="2D3E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182112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Deep (Quantum Vacuum)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1097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Word (Logos)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Underlying all layers - fundamental ordering principle of existence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Systems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4023360" cy="3200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MRG Mark IV Array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12 Units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9019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57.6 TW Total Output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24942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Primary power source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59689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99.4% uptime reliability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023360" cy="3200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0972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Tap Array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5544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Nodes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9019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800 TW Peak Output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224942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Emergency/combat power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59689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2-minute sustained burst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Output Comparison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3611880"/>
            <a:ext cx="2286000" cy="3200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3611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57.6 TW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371600" y="4023360"/>
            <a:ext cx="3063240" cy="3200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/>
          <p:nvPr/>
        </p:nvSpPr>
        <p:spPr>
          <a:xfrm>
            <a:off x="1371600" y="40233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TW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36118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4023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Tap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Firmament Drive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1645920"/>
            <a:ext cx="640080" cy="64008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234440" y="1920240"/>
            <a:ext cx="594360" cy="7315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377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7s spool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23160" y="1645920"/>
            <a:ext cx="640080" cy="64008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063240" y="1920240"/>
            <a:ext cx="594360" cy="7315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2286000" y="2377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Membrane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86000" y="27432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13s transit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434840" y="1645920"/>
            <a:ext cx="640080" cy="64008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484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074920" y="1920240"/>
            <a:ext cx="594360" cy="7315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4297680" y="2377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97680" y="27432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TW peak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46520" y="1645920"/>
            <a:ext cx="640080" cy="64008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309360" y="2377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09360" y="27432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lock-in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14400" y="3657600"/>
            <a:ext cx="18288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703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Spool Time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14400" y="39593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seconds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200400" y="3657600"/>
            <a:ext cx="18288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3703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Time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00400" y="39593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 seconds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0" y="3657600"/>
            <a:ext cx="18288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0" y="3703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Power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0" y="39593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400 TW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Hull &amp; Defensive Systems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Hull Composition (Cross-Section)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3200400" cy="320040"/>
          </a:xfrm>
          <a:prstGeom prst="rect">
            <a:avLst/>
          </a:prstGeom>
          <a:solidFill>
            <a:srgbClr val="8B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087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Counter-Resonance Plate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17520" y="15087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920240"/>
            <a:ext cx="3200400" cy="320040"/>
          </a:xfrm>
          <a:prstGeom prst="rect">
            <a:avLst/>
          </a:prstGeom>
          <a:solidFill>
            <a:srgbClr val="4169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9659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 Gel Matrix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0" y="1965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377440"/>
            <a:ext cx="3200400" cy="320040"/>
          </a:xfrm>
          <a:prstGeom prst="rect">
            <a:avLst/>
          </a:prstGeom>
          <a:solidFill>
            <a:srgbClr val="4A90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4231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Hull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0" y="24231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1097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Systems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1463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Phase-Shift Cloak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12080" y="16916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signature masking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0" y="2057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Shield Grid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12080" y="228600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360° energy deflection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0" y="2651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Ablative Armor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12080" y="28803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Thermally dissipating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0" y="3246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Countermeasure Suite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12080" y="347472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warfare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Weapons Systems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743200" cy="2926080"/>
          </a:xfrm>
          <a:prstGeom prst="rect">
            <a:avLst/>
          </a:prstGeom>
          <a:solidFill>
            <a:srgbClr val="1E2761"/>
          </a:solidFill>
          <a:ln w="25400">
            <a:solidFill>
              <a:srgbClr val="4A90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2743200" cy="4114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34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MRG Particle Banks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8 Projectors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8 TW per second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Primary weapon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188720"/>
            <a:ext cx="2743200" cy="2926080"/>
          </a:xfrm>
          <a:prstGeom prst="rect">
            <a:avLst/>
          </a:prstGeom>
          <a:solidFill>
            <a:srgbClr val="1E2761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188720"/>
            <a:ext cx="2743200" cy="41148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234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Energy Cascade Projector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20440" y="1783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Single cannon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20440" y="21945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40 TW per shot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20440" y="2606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Ultra-high yield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188720"/>
            <a:ext cx="2743200" cy="2926080"/>
          </a:xfrm>
          <a:prstGeom prst="rect">
            <a:avLst/>
          </a:prstGeom>
          <a:solidFill>
            <a:srgbClr val="1E2761"/>
          </a:solidFill>
          <a:ln w="25400">
            <a:solidFill>
              <a:srgbClr val="4A90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188720"/>
            <a:ext cx="2743200" cy="4114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1234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Torpedo Launchers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1783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40 warheads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21945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Multi-yield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2606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Long-range strike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firepower: 856 TW sustained | Capable of sustained engagement against multiple hostiles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Sensors &amp; Communications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12801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Nephesh Scanner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153619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detection to 1.2 AU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9659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Genesis Array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222199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Multi-spectrum analysis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6517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Cloak Piercing Scanner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290779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Exotic matter detection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46320" y="1280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12080" y="12801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Trans-Firmament Signal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12080" y="153619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FTL comms, unlimited range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46320" y="1965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12080" y="19659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Wave Detector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12080" y="222199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Space-time distortion sensing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46320" y="2651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212080" y="26517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Entanglement Link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12080" y="290779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command channel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Deck Layout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201168"/>
          </a:xfrm>
          <a:prstGeom prst="rect">
            <a:avLst/>
          </a:prstGeom>
          <a:solidFill>
            <a:srgbClr val="F4D03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07008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463040" y="1207008"/>
            <a:ext cx="7132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26464"/>
            <a:ext cx="8229600" cy="201168"/>
          </a:xfrm>
          <a:prstGeom prst="rect">
            <a:avLst/>
          </a:prstGeom>
          <a:solidFill>
            <a:srgbClr val="F4D03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4475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63040" y="1444752"/>
            <a:ext cx="7132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Captain's Quarters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664208"/>
            <a:ext cx="8229600" cy="201168"/>
          </a:xfrm>
          <a:prstGeom prst="rect">
            <a:avLst/>
          </a:prstGeom>
          <a:solidFill>
            <a:srgbClr val="2E8B5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68249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63040" y="1682496"/>
            <a:ext cx="7132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Quarters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901952"/>
            <a:ext cx="8229600" cy="201168"/>
          </a:xfrm>
          <a:prstGeom prst="rect">
            <a:avLst/>
          </a:prstGeom>
          <a:solidFill>
            <a:srgbClr val="2E8B5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92024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63040" y="1920240"/>
            <a:ext cx="7132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Quarters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139696"/>
            <a:ext cx="8229600" cy="201168"/>
          </a:xfrm>
          <a:prstGeom prst="rect">
            <a:avLst/>
          </a:prstGeom>
          <a:solidFill>
            <a:srgbClr val="2E8B5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157984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463040" y="2157984"/>
            <a:ext cx="7132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Quarters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377440"/>
            <a:ext cx="8229600" cy="201168"/>
          </a:xfrm>
          <a:prstGeom prst="rect">
            <a:avLst/>
          </a:prstGeom>
          <a:solidFill>
            <a:srgbClr val="2E8B5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395728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63040" y="2395728"/>
            <a:ext cx="7132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Labs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615184"/>
            <a:ext cx="8229600" cy="201168"/>
          </a:xfrm>
          <a:prstGeom prst="rect">
            <a:avLst/>
          </a:prstGeom>
          <a:solidFill>
            <a:srgbClr val="DC143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633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7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463040" y="2633472"/>
            <a:ext cx="7132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Bay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852928"/>
            <a:ext cx="8229600" cy="201168"/>
          </a:xfrm>
          <a:prstGeom prst="rect">
            <a:avLst/>
          </a:prstGeom>
          <a:solidFill>
            <a:srgbClr val="FF8C0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287121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8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463040" y="2871216"/>
            <a:ext cx="7132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(Main)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090672"/>
            <a:ext cx="8229600" cy="201168"/>
          </a:xfrm>
          <a:prstGeom prst="rect">
            <a:avLst/>
          </a:prstGeom>
          <a:solidFill>
            <a:srgbClr val="FF8C0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10896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9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463040" y="3108960"/>
            <a:ext cx="7132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(Secondary)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3328416"/>
            <a:ext cx="8229600" cy="201168"/>
          </a:xfrm>
          <a:prstGeom prst="rect">
            <a:avLst/>
          </a:prstGeom>
          <a:solidFill>
            <a:srgbClr val="69696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346704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10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463040" y="3346704"/>
            <a:ext cx="7132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Bay 1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3566160"/>
            <a:ext cx="8229600" cy="201168"/>
          </a:xfrm>
          <a:prstGeom prst="rect">
            <a:avLst/>
          </a:prstGeom>
          <a:solidFill>
            <a:srgbClr val="69696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584448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11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463040" y="3584448"/>
            <a:ext cx="7132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Bay 2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3803904"/>
            <a:ext cx="8229600" cy="201168"/>
          </a:xfrm>
          <a:prstGeom prst="rect">
            <a:avLst/>
          </a:prstGeom>
          <a:solidFill>
            <a:srgbClr val="69696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382219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12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463040" y="3822192"/>
            <a:ext cx="7132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Hangar (Shuttles)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4041648"/>
            <a:ext cx="8229600" cy="201168"/>
          </a:xfrm>
          <a:prstGeom prst="rect">
            <a:avLst/>
          </a:prstGeom>
          <a:solidFill>
            <a:srgbClr val="FF8C0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405993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13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463040" y="4059936"/>
            <a:ext cx="7132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Reactor Core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" y="4279392"/>
            <a:ext cx="8229600" cy="201168"/>
          </a:xfrm>
          <a:prstGeom prst="rect">
            <a:avLst/>
          </a:prstGeom>
          <a:solidFill>
            <a:srgbClr val="2E8B5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429768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14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463040" y="4297680"/>
            <a:ext cx="7132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Lounge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Crew Quarters &amp; Living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 Specifications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6576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002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Captain's Suite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17520" y="16002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 m²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36576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0574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Quarters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0" y="20574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 m²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468880"/>
            <a:ext cx="36576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5146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Cabin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0" y="2514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 m²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63440" y="10972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Areas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15544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The Hearth (Main Hall)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180136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gathering space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46320" y="21762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Observation Lounge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24231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Stellar viewport lounge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46320" y="279806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Recreational Areas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304495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Exercise, hobbies, socializing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341985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Medical Facilities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366674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diagnostic &amp; treatment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Designed not as a warship, but as a home among the stars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 Support &amp; Food Systems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Support Systems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Atmospheric Processing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80136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min cycle time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Recycling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39572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99.997% efficiency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Oxygen Generation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99008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Algae-based redundancy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33375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Control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58444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±2°C precision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63440" y="10972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Production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1554480"/>
            <a:ext cx="34747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581912"/>
            <a:ext cx="21031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Hydroponic Bays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83480" y="1719072"/>
            <a:ext cx="32004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400 m²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2011680"/>
            <a:ext cx="34747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2039112"/>
            <a:ext cx="21031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Synthesis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83480" y="2176272"/>
            <a:ext cx="32004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Lab-cultured protein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2468880"/>
            <a:ext cx="34747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2496312"/>
            <a:ext cx="21031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Variety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83480" y="2633472"/>
            <a:ext cx="32004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 species cultivated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2926080"/>
            <a:ext cx="34747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2953512"/>
            <a:ext cx="21031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Caloric Output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83480" y="3090672"/>
            <a:ext cx="32004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125% crew requirement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Medical &amp; Science Systems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743200" cy="2926080"/>
          </a:xfrm>
          <a:prstGeom prst="rect">
            <a:avLst/>
          </a:prstGeom>
          <a:solidFill>
            <a:srgbClr val="1E2761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71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♣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1783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Trauma Field Stabilizer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Stops entropy at cellular level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58775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Preserves patients indefinitely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93522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Reversible with full recovery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37560" y="1188720"/>
            <a:ext cx="2743200" cy="2926080"/>
          </a:xfrm>
          <a:prstGeom prst="rect">
            <a:avLst/>
          </a:prstGeom>
          <a:solidFill>
            <a:srgbClr val="1E2761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94760" y="1371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♦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474720" y="1783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Nephesh Diagnostics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0440" y="224028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Instant full-body analysis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20440" y="258775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Genetic screening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20440" y="293522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Pathogen detection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17920" y="1188720"/>
            <a:ext cx="2743200" cy="2926080"/>
          </a:xfrm>
          <a:prstGeom prst="rect">
            <a:avLst/>
          </a:prstGeom>
          <a:solidFill>
            <a:srgbClr val="1E2761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1371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55080" y="1783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Advanced Science Labs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224028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Multi-discipline research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0" y="258775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Materials fabrication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0" y="293522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3D bioprinting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Auxiliary Craft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2344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Genesis Shuttle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units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57276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18m length | Seats 12 | FTL-capable | Cargo versatile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3200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10312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Recon Skiff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0" y="21031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unit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44144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 length | Seats 2 | High speed | Stealth profile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97180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Emergency Pods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0" y="29718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units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331012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 6 each | Self-guiding | Life support | Rescue beacon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Operational Profiles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1965960" cy="2926080"/>
          </a:xfrm>
          <a:prstGeom prst="rect">
            <a:avLst/>
          </a:prstGeom>
          <a:solidFill>
            <a:srgbClr val="1E2761"/>
          </a:solidFill>
          <a:ln w="25400">
            <a:solidFill>
              <a:srgbClr val="2E8B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1965960" cy="36576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Cruise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MRG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05740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Sustainable long-distance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4360" y="23317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Observation-focused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260604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Standard speed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468880" y="1188720"/>
            <a:ext cx="1965960" cy="2926080"/>
          </a:xfrm>
          <a:prstGeom prst="rect">
            <a:avLst/>
          </a:prstGeom>
          <a:solidFill>
            <a:srgbClr val="1E2761"/>
          </a:solidFill>
          <a:ln w="25400">
            <a:solidFill>
              <a:srgbClr val="4A90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1188720"/>
            <a:ext cx="1965960" cy="3657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3" name="Text 11"/>
          <p:cNvSpPr/>
          <p:nvPr/>
        </p:nvSpPr>
        <p:spPr>
          <a:xfrm>
            <a:off x="2468880" y="12344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Survey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60320" y="169164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MRG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06040" y="205740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Active scanning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606040" y="23317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sensor suite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606040" y="260604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Moderate maneuvering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480560" y="1188720"/>
            <a:ext cx="1965960" cy="2926080"/>
          </a:xfrm>
          <a:prstGeom prst="rect">
            <a:avLst/>
          </a:prstGeom>
          <a:solidFill>
            <a:srgbClr val="1E2761"/>
          </a:solidFill>
          <a:ln w="25400">
            <a:solidFill>
              <a:srgbClr val="F4D03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80560" y="1188720"/>
            <a:ext cx="1965960" cy="365760"/>
          </a:xfrm>
          <a:prstGeom prst="rect">
            <a:avLst/>
          </a:prstGeom>
          <a:solidFill>
            <a:srgbClr val="F4D03F"/>
          </a:solidFill>
          <a:ln/>
        </p:spPr>
      </p:sp>
      <p:sp>
        <p:nvSpPr>
          <p:cNvPr id="20" name="Text 18"/>
          <p:cNvSpPr/>
          <p:nvPr/>
        </p:nvSpPr>
        <p:spPr>
          <a:xfrm>
            <a:off x="4480560" y="12344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Transit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0" y="169164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TW peak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17720" y="205740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Firmament drive active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17720" y="23317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13-second jumps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17720" y="260604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Navigation locked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492240" y="1188720"/>
            <a:ext cx="1965960" cy="2926080"/>
          </a:xfrm>
          <a:prstGeom prst="rect">
            <a:avLst/>
          </a:prstGeom>
          <a:solidFill>
            <a:srgbClr val="1E2761"/>
          </a:solidFill>
          <a:ln w="25400">
            <a:solidFill>
              <a:srgbClr val="DC14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2240" y="1188720"/>
            <a:ext cx="1965960" cy="365760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12344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Combat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583680" y="169164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TW Deep Tap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29400" y="205740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weapons hot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629400" y="23317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Shield elevation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629400" y="260604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maneuvering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 is Exodus.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 is home.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i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she is just getting started.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200400" y="3383280"/>
            <a:ext cx="2743200" cy="36576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GFS Exodus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Registry: GFS-001 | Genesis-Class Explorer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2026-04-03T14:11:39Z</dcterms:created>
  <dcterms:modified xsi:type="dcterms:W3CDTF">2026-04-03T14:11:39Z</dcterms:modified>
</cp:coreProperties>
</file>